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24" Type="http://schemas.openxmlformats.org/officeDocument/2006/relationships/slide" Target="slides/slide19.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b17b0026a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b17b0026a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8c96575b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8c96575b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b8c96575b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b8c96575b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b17b0026a_0_15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b17b0026a_0_1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8c96575ba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8c96575b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b8c96575ba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b8c96575ba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b8c96575ba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b8c96575ba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8cc34b5b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8cc34b5b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8cc34b5b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b8cc34b5b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b8cc34b5bf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b8cc34b5b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b8cc34b5bf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b8cc34b5bf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b8cc34b5bf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b8cc34b5bf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b8cc34b5b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b8cc34b5b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b8c96575b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b8c96575b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b93d62e0d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b93d62e0d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b93d62e0d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b93d62e0d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b8c96575ba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b8c96575ba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b8c96575ba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b8c96575ba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transition spd="slow">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0" y="744575"/>
            <a:ext cx="9144000" cy="2052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vi"/>
              <a:t>Simulate the robot in Gazebo</a:t>
            </a:r>
            <a:endParaRPr/>
          </a:p>
        </p:txBody>
      </p:sp>
      <p:sp>
        <p:nvSpPr>
          <p:cNvPr id="55" name="Google Shape;55;p13"/>
          <p:cNvSpPr txBox="1"/>
          <p:nvPr>
            <p:ph idx="1" type="subTitle"/>
          </p:nvPr>
        </p:nvSpPr>
        <p:spPr>
          <a:xfrm>
            <a:off x="1555300" y="3212775"/>
            <a:ext cx="4606800" cy="937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vi"/>
              <a:t>Final Project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Targets:</a:t>
            </a:r>
            <a:endParaRPr/>
          </a:p>
        </p:txBody>
      </p:sp>
      <p:sp>
        <p:nvSpPr>
          <p:cNvPr id="61" name="Google Shape;61;p14"/>
          <p:cNvSpPr txBox="1"/>
          <p:nvPr>
            <p:ph idx="1" type="body"/>
          </p:nvPr>
        </p:nvSpPr>
        <p:spPr>
          <a:xfrm>
            <a:off x="95700" y="572700"/>
            <a:ext cx="8952600" cy="45708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vi"/>
              <a:t>Understanding about TFs, GAzebo, RVIZ, URDF and apply to create a robot</a:t>
            </a:r>
            <a:endParaRPr/>
          </a:p>
          <a:p>
            <a:pPr indent="-342900" lvl="0" marL="457200" rtl="0" algn="l">
              <a:spcBef>
                <a:spcPts val="0"/>
              </a:spcBef>
              <a:spcAft>
                <a:spcPts val="0"/>
              </a:spcAft>
              <a:buSzPts val="1800"/>
              <a:buChar char="●"/>
            </a:pPr>
            <a:r>
              <a:rPr lang="vi"/>
              <a:t>In this project you will add a small robotic arm (just 2 axis to keep it simple) on top of the mobile base that we have built together</a:t>
            </a:r>
            <a:endParaRPr/>
          </a:p>
          <a:p>
            <a:pPr indent="-342900" lvl="0" marL="457200" rtl="0" algn="l">
              <a:spcBef>
                <a:spcPts val="0"/>
              </a:spcBef>
              <a:spcAft>
                <a:spcPts val="0"/>
              </a:spcAft>
              <a:buSzPts val="1800"/>
              <a:buChar char="●"/>
            </a:pPr>
            <a:r>
              <a:rPr lang="vi"/>
              <a:t>The end result is a simple robotic arm on top of the mobile base, controlled by a quite simplistic gazebo plugin. So the arm won’t do anything fancy, but that’s not the goal here. The goal is to practise on what we’ve seen in this course, and to open the possibilities for what you can do next. Then after the course, if you want, you can learn more about robotic arm control, for example using the ROS Moveit(2) framework.</a:t>
            </a:r>
            <a:endParaRPr/>
          </a:p>
          <a:p>
            <a:pPr indent="-342900" lvl="0" marL="457200" rtl="0" algn="l">
              <a:spcBef>
                <a:spcPts val="0"/>
              </a:spcBef>
              <a:spcAft>
                <a:spcPts val="0"/>
              </a:spcAft>
              <a:buSzPts val="1800"/>
              <a:buChar char="●"/>
            </a:pPr>
            <a:r>
              <a:rPr lang="vi"/>
              <a:t>The best way to progress is to put in some time and effort to do the project on your own. It’s ok if you don’t manage to do it without help, as it’s a bit more challenging than the challenges I gave you before. But the more you try, the more you’ll learn. Then, if you did the project on your own, I still recommend you watch the solution, so you can compare and also see how I did it + get some best practices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Targets:</a:t>
            </a:r>
            <a:endParaRPr/>
          </a:p>
        </p:txBody>
      </p:sp>
      <p:sp>
        <p:nvSpPr>
          <p:cNvPr id="67" name="Google Shape;67;p15"/>
          <p:cNvSpPr txBox="1"/>
          <p:nvPr>
            <p:ph idx="1" type="body"/>
          </p:nvPr>
        </p:nvSpPr>
        <p:spPr>
          <a:xfrm>
            <a:off x="95700" y="572700"/>
            <a:ext cx="8952600" cy="45708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vi"/>
              <a:t>Here are the specs you need to create the robot. Note that I didn’t provide all the possible values, just the ones you need to get started. From this you can compute the rest of the values, or (for the gazebo plugins) find more info by searching on the internet.</a:t>
            </a:r>
            <a:endParaRPr/>
          </a:p>
          <a:p>
            <a:pPr indent="-342900" lvl="0" marL="457200" rtl="0" algn="l">
              <a:spcBef>
                <a:spcPts val="0"/>
              </a:spcBef>
              <a:spcAft>
                <a:spcPts val="0"/>
              </a:spcAft>
              <a:buSzPts val="1800"/>
              <a:buChar char="●"/>
            </a:pPr>
            <a:r>
              <a:rPr lang="vi"/>
              <a:t>URDF Links:</a:t>
            </a:r>
            <a:endParaRPr/>
          </a:p>
          <a:p>
            <a:pPr indent="-317500" lvl="1" marL="914400" rtl="0" algn="l">
              <a:spcBef>
                <a:spcPts val="0"/>
              </a:spcBef>
              <a:spcAft>
                <a:spcPts val="0"/>
              </a:spcAft>
              <a:buSzPts val="1400"/>
              <a:buChar char="○"/>
            </a:pPr>
            <a:r>
              <a:rPr lang="vi"/>
              <a:t>arm_base_link:</a:t>
            </a:r>
            <a:endParaRPr/>
          </a:p>
          <a:p>
            <a:pPr indent="-317500" lvl="2" marL="1371600" rtl="0" algn="l">
              <a:spcBef>
                <a:spcPts val="0"/>
              </a:spcBef>
              <a:spcAft>
                <a:spcPts val="0"/>
              </a:spcAft>
              <a:buSzPts val="1400"/>
              <a:buChar char="■"/>
            </a:pPr>
            <a:r>
              <a:rPr lang="vi"/>
              <a:t>Box: size 0.1 0.1 0.02</a:t>
            </a:r>
            <a:endParaRPr/>
          </a:p>
          <a:p>
            <a:pPr indent="-317500" lvl="2" marL="1371600" rtl="0" algn="l">
              <a:spcBef>
                <a:spcPts val="0"/>
              </a:spcBef>
              <a:spcAft>
                <a:spcPts val="0"/>
              </a:spcAft>
              <a:buSzPts val="1400"/>
              <a:buChar char="■"/>
            </a:pPr>
            <a:r>
              <a:rPr lang="vi"/>
              <a:t>Color: orange</a:t>
            </a:r>
            <a:endParaRPr/>
          </a:p>
          <a:p>
            <a:pPr indent="-317500" lvl="2" marL="1371600" rtl="0" algn="l">
              <a:spcBef>
                <a:spcPts val="0"/>
              </a:spcBef>
              <a:spcAft>
                <a:spcPts val="0"/>
              </a:spcAft>
              <a:buSzPts val="1400"/>
              <a:buChar char="■"/>
            </a:pPr>
            <a:r>
              <a:rPr lang="vi"/>
              <a:t>Mass: 0.5</a:t>
            </a:r>
            <a:endParaRPr/>
          </a:p>
          <a:p>
            <a:pPr indent="-317500" lvl="1" marL="914400" rtl="0" algn="l">
              <a:spcBef>
                <a:spcPts val="0"/>
              </a:spcBef>
              <a:spcAft>
                <a:spcPts val="0"/>
              </a:spcAft>
              <a:buSzPts val="1400"/>
              <a:buChar char="○"/>
            </a:pPr>
            <a:r>
              <a:rPr lang="vi"/>
              <a:t>forearm_link:</a:t>
            </a:r>
            <a:endParaRPr/>
          </a:p>
          <a:p>
            <a:pPr indent="-317500" lvl="2" marL="1371600" rtl="0" algn="l">
              <a:spcBef>
                <a:spcPts val="0"/>
              </a:spcBef>
              <a:spcAft>
                <a:spcPts val="0"/>
              </a:spcAft>
              <a:buSzPts val="1400"/>
              <a:buChar char="■"/>
            </a:pPr>
            <a:r>
              <a:rPr lang="vi"/>
              <a:t>Cylinder: radius 0.02 length 0.3</a:t>
            </a:r>
            <a:endParaRPr/>
          </a:p>
          <a:p>
            <a:pPr indent="-317500" lvl="2" marL="1371600" rtl="0" algn="l">
              <a:spcBef>
                <a:spcPts val="0"/>
              </a:spcBef>
              <a:spcAft>
                <a:spcPts val="0"/>
              </a:spcAft>
              <a:buSzPts val="1400"/>
              <a:buChar char="■"/>
            </a:pPr>
            <a:r>
              <a:rPr lang="vi"/>
              <a:t>Color: yellow</a:t>
            </a:r>
            <a:endParaRPr/>
          </a:p>
          <a:p>
            <a:pPr indent="-317500" lvl="2" marL="1371600" rtl="0" algn="l">
              <a:spcBef>
                <a:spcPts val="0"/>
              </a:spcBef>
              <a:spcAft>
                <a:spcPts val="0"/>
              </a:spcAft>
              <a:buSzPts val="1400"/>
              <a:buChar char="■"/>
            </a:pPr>
            <a:r>
              <a:rPr lang="vi"/>
              <a:t>Mass: 0.3</a:t>
            </a:r>
            <a:endParaRPr/>
          </a:p>
          <a:p>
            <a:pPr indent="-317500" lvl="1" marL="914400" rtl="0" algn="l">
              <a:spcBef>
                <a:spcPts val="0"/>
              </a:spcBef>
              <a:spcAft>
                <a:spcPts val="0"/>
              </a:spcAft>
              <a:buSzPts val="1400"/>
              <a:buChar char="○"/>
            </a:pPr>
            <a:r>
              <a:rPr lang="vi"/>
              <a:t>hand_link:</a:t>
            </a:r>
            <a:endParaRPr/>
          </a:p>
          <a:p>
            <a:pPr indent="-317500" lvl="2" marL="1371600" rtl="0" algn="l">
              <a:spcBef>
                <a:spcPts val="0"/>
              </a:spcBef>
              <a:spcAft>
                <a:spcPts val="0"/>
              </a:spcAft>
              <a:buSzPts val="1400"/>
              <a:buChar char="■"/>
            </a:pPr>
            <a:r>
              <a:rPr lang="vi"/>
              <a:t>Cylinder: radius 0.02, length 0.3</a:t>
            </a:r>
            <a:endParaRPr/>
          </a:p>
          <a:p>
            <a:pPr indent="-317500" lvl="2" marL="1371600" rtl="0" algn="l">
              <a:spcBef>
                <a:spcPts val="0"/>
              </a:spcBef>
              <a:spcAft>
                <a:spcPts val="0"/>
              </a:spcAft>
              <a:buSzPts val="1400"/>
              <a:buChar char="■"/>
            </a:pPr>
            <a:r>
              <a:rPr lang="vi"/>
              <a:t>Color: orange</a:t>
            </a:r>
            <a:endParaRPr/>
          </a:p>
          <a:p>
            <a:pPr indent="-317500" lvl="2" marL="1371600" rtl="0" algn="l">
              <a:spcBef>
                <a:spcPts val="0"/>
              </a:spcBef>
              <a:spcAft>
                <a:spcPts val="0"/>
              </a:spcAft>
              <a:buSzPts val="1400"/>
              <a:buChar char="■"/>
            </a:pPr>
            <a:r>
              <a:rPr lang="vi"/>
              <a:t>Mass: 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Targets:</a:t>
            </a:r>
            <a:endParaRPr/>
          </a:p>
        </p:txBody>
      </p:sp>
      <p:sp>
        <p:nvSpPr>
          <p:cNvPr id="73" name="Google Shape;73;p16"/>
          <p:cNvSpPr txBox="1"/>
          <p:nvPr>
            <p:ph idx="1" type="body"/>
          </p:nvPr>
        </p:nvSpPr>
        <p:spPr>
          <a:xfrm>
            <a:off x="95700" y="572700"/>
            <a:ext cx="8952600" cy="4570800"/>
          </a:xfrm>
          <a:prstGeom prst="rect">
            <a:avLst/>
          </a:prstGeom>
        </p:spPr>
        <p:txBody>
          <a:bodyPr anchorCtr="0" anchor="t" bIns="91425" lIns="91425" spcFirstLastPara="1" rIns="91425" wrap="square" tIns="91425">
            <a:normAutofit/>
          </a:bodyPr>
          <a:lstStyle/>
          <a:p>
            <a:pPr indent="0" lvl="0" marL="457200" rtl="0" algn="l">
              <a:spcBef>
                <a:spcPts val="0"/>
              </a:spcBef>
              <a:spcAft>
                <a:spcPts val="0"/>
              </a:spcAft>
              <a:buNone/>
            </a:pPr>
            <a:r>
              <a:rPr b="1" lang="vi"/>
              <a:t>URDF Joints:</a:t>
            </a:r>
            <a:endParaRPr b="1"/>
          </a:p>
          <a:p>
            <a:pPr indent="-317500" lvl="1" marL="914400" rtl="0" algn="l">
              <a:spcBef>
                <a:spcPts val="1200"/>
              </a:spcBef>
              <a:spcAft>
                <a:spcPts val="0"/>
              </a:spcAft>
              <a:buSzPts val="1400"/>
              <a:buChar char="○"/>
            </a:pPr>
            <a:r>
              <a:rPr lang="vi"/>
              <a:t>Between arm base and forearm:</a:t>
            </a:r>
            <a:endParaRPr/>
          </a:p>
          <a:p>
            <a:pPr indent="-317500" lvl="2" marL="1371600" rtl="0" algn="l">
              <a:spcBef>
                <a:spcPts val="0"/>
              </a:spcBef>
              <a:spcAft>
                <a:spcPts val="0"/>
              </a:spcAft>
              <a:buSzPts val="1400"/>
              <a:buChar char="■"/>
            </a:pPr>
            <a:r>
              <a:rPr lang="vi"/>
              <a:t>ype: revolute</a:t>
            </a:r>
            <a:endParaRPr/>
          </a:p>
          <a:p>
            <a:pPr indent="-317500" lvl="2" marL="1371600" rtl="0" algn="l">
              <a:spcBef>
                <a:spcPts val="0"/>
              </a:spcBef>
              <a:spcAft>
                <a:spcPts val="0"/>
              </a:spcAft>
              <a:buSzPts val="1400"/>
              <a:buChar char="■"/>
            </a:pPr>
            <a:r>
              <a:rPr lang="vi"/>
              <a:t>Limit: lower 0, upper pi/2, effort 100, velocity 100</a:t>
            </a:r>
            <a:endParaRPr/>
          </a:p>
          <a:p>
            <a:pPr indent="-317500" lvl="2" marL="1371600" rtl="0" algn="l">
              <a:spcBef>
                <a:spcPts val="0"/>
              </a:spcBef>
              <a:spcAft>
                <a:spcPts val="0"/>
              </a:spcAft>
              <a:buSzPts val="1400"/>
              <a:buChar char="■"/>
            </a:pPr>
            <a:r>
              <a:rPr lang="vi"/>
              <a:t>Add some friction with &lt;dynamics friction=”0.05” damping=”0.1” /&gt;</a:t>
            </a:r>
            <a:endParaRPr/>
          </a:p>
          <a:p>
            <a:pPr indent="-317500" lvl="1" marL="914400" rtl="0" algn="l">
              <a:spcBef>
                <a:spcPts val="0"/>
              </a:spcBef>
              <a:spcAft>
                <a:spcPts val="0"/>
              </a:spcAft>
              <a:buSzPts val="1400"/>
              <a:buChar char="○"/>
            </a:pPr>
            <a:r>
              <a:rPr lang="vi"/>
              <a:t>Between forearm and hand:</a:t>
            </a:r>
            <a:endParaRPr/>
          </a:p>
          <a:p>
            <a:pPr indent="-317500" lvl="2" marL="1371600" rtl="0" algn="l">
              <a:spcBef>
                <a:spcPts val="0"/>
              </a:spcBef>
              <a:spcAft>
                <a:spcPts val="0"/>
              </a:spcAft>
              <a:buSzPts val="1400"/>
              <a:buChar char="■"/>
            </a:pPr>
            <a:r>
              <a:rPr lang="vi"/>
              <a:t>Type: revolute</a:t>
            </a:r>
            <a:endParaRPr/>
          </a:p>
          <a:p>
            <a:pPr indent="-317500" lvl="2" marL="1371600" rtl="0" algn="l">
              <a:spcBef>
                <a:spcPts val="0"/>
              </a:spcBef>
              <a:spcAft>
                <a:spcPts val="0"/>
              </a:spcAft>
              <a:buSzPts val="1400"/>
              <a:buChar char="■"/>
            </a:pPr>
            <a:r>
              <a:rPr lang="vi"/>
              <a:t>Limit: lower 0, upper pi/2, effort 100, velocity 100</a:t>
            </a:r>
            <a:endParaRPr/>
          </a:p>
          <a:p>
            <a:pPr indent="-317500" lvl="2" marL="1371600" rtl="0" algn="l">
              <a:spcBef>
                <a:spcPts val="0"/>
              </a:spcBef>
              <a:spcAft>
                <a:spcPts val="0"/>
              </a:spcAft>
              <a:buSzPts val="1400"/>
              <a:buChar char="■"/>
            </a:pPr>
            <a:r>
              <a:rPr lang="vi"/>
              <a:t>Ad</a:t>
            </a:r>
            <a:r>
              <a:rPr lang="vi"/>
              <a:t>d some friction with &lt;dynamics friction=”0.05” damping=”0.1” /&gt;</a:t>
            </a:r>
            <a:endParaRPr/>
          </a:p>
          <a:p>
            <a:pPr indent="0" lvl="0" marL="457200" rtl="0" algn="l">
              <a:spcBef>
                <a:spcPts val="1200"/>
              </a:spcBef>
              <a:spcAft>
                <a:spcPts val="0"/>
              </a:spcAft>
              <a:buNone/>
            </a:pPr>
            <a:r>
              <a:rPr b="1" lang="vi"/>
              <a:t>Gazebo plugins with required fields:</a:t>
            </a:r>
            <a:endParaRPr b="1"/>
          </a:p>
          <a:p>
            <a:pPr indent="-317500" lvl="1" marL="914400" rtl="0" algn="l">
              <a:spcBef>
                <a:spcPts val="1200"/>
              </a:spcBef>
              <a:spcAft>
                <a:spcPts val="0"/>
              </a:spcAft>
              <a:buSzPts val="1400"/>
              <a:buChar char="○"/>
            </a:pPr>
            <a:r>
              <a:rPr lang="vi"/>
              <a:t>joint_state_publisher:</a:t>
            </a:r>
            <a:endParaRPr/>
          </a:p>
          <a:p>
            <a:pPr indent="-317500" lvl="2" marL="1371600" rtl="0" algn="l">
              <a:spcBef>
                <a:spcPts val="0"/>
              </a:spcBef>
              <a:spcAft>
                <a:spcPts val="0"/>
              </a:spcAft>
              <a:buSzPts val="1400"/>
              <a:buChar char="■"/>
            </a:pPr>
            <a:r>
              <a:rPr lang="vi"/>
              <a:t>update_rate: 10</a:t>
            </a:r>
            <a:endParaRPr/>
          </a:p>
          <a:p>
            <a:pPr indent="-317500" lvl="2" marL="1371600" rtl="0" algn="l">
              <a:spcBef>
                <a:spcPts val="0"/>
              </a:spcBef>
              <a:spcAft>
                <a:spcPts val="0"/>
              </a:spcAft>
              <a:buSzPts val="1400"/>
              <a:buChar char="■"/>
            </a:pPr>
            <a:r>
              <a:rPr lang="vi"/>
              <a:t>joint_name: one for each joint in the arm</a:t>
            </a:r>
            <a:endParaRPr/>
          </a:p>
          <a:p>
            <a:pPr indent="-317500" lvl="1" marL="914400" rtl="0" algn="l">
              <a:spcBef>
                <a:spcPts val="0"/>
              </a:spcBef>
              <a:spcAft>
                <a:spcPts val="0"/>
              </a:spcAft>
              <a:buSzPts val="1400"/>
              <a:buChar char="○"/>
            </a:pPr>
            <a:r>
              <a:rPr lang="vi"/>
              <a:t>joint_pose_trajectory:</a:t>
            </a:r>
            <a:endParaRPr/>
          </a:p>
          <a:p>
            <a:pPr indent="-317500" lvl="2" marL="1371600" rtl="0" algn="l">
              <a:spcBef>
                <a:spcPts val="0"/>
              </a:spcBef>
              <a:spcAft>
                <a:spcPts val="0"/>
              </a:spcAft>
              <a:buSzPts val="1400"/>
              <a:buChar char="■"/>
            </a:pPr>
            <a:r>
              <a:rPr lang="vi"/>
              <a:t>update_rate: 2</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Tips to get started</a:t>
            </a:r>
            <a:endParaRPr/>
          </a:p>
        </p:txBody>
      </p:sp>
      <p:sp>
        <p:nvSpPr>
          <p:cNvPr id="79" name="Google Shape;79;p17"/>
          <p:cNvSpPr txBox="1"/>
          <p:nvPr>
            <p:ph idx="1" type="body"/>
          </p:nvPr>
        </p:nvSpPr>
        <p:spPr>
          <a:xfrm>
            <a:off x="113250" y="635700"/>
            <a:ext cx="8793000" cy="4507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vi"/>
              <a:t>T</a:t>
            </a:r>
            <a:r>
              <a:rPr lang="vi"/>
              <a:t>ips to get started Here are some additional tips to help you with the project::</a:t>
            </a:r>
            <a:endParaRPr/>
          </a:p>
          <a:p>
            <a:pPr indent="-342900" lvl="0" marL="457200" rtl="0" algn="l">
              <a:spcBef>
                <a:spcPts val="1200"/>
              </a:spcBef>
              <a:spcAft>
                <a:spcPts val="0"/>
              </a:spcAft>
              <a:buSzPts val="1800"/>
              <a:buChar char="●"/>
            </a:pPr>
            <a:r>
              <a:rPr lang="vi"/>
              <a:t>For the arm, you can create a new URDF file “arm.xacro”, and a “standalone_arm.urdf.xacro”. In the standalone file, you include the “arm.xacro” and “common_properties.xacro”. By doing this you will be able to test the arm on its own, before you attach it to the mobile base.</a:t>
            </a:r>
            <a:endParaRPr/>
          </a:p>
          <a:p>
            <a:pPr indent="-342900" lvl="0" marL="457200" rtl="0" algn="l">
              <a:spcBef>
                <a:spcPts val="0"/>
              </a:spcBef>
              <a:spcAft>
                <a:spcPts val="0"/>
              </a:spcAft>
              <a:buSzPts val="1800"/>
              <a:buChar char="●"/>
            </a:pPr>
            <a:r>
              <a:rPr lang="vi"/>
              <a:t>Work with small iterations: first write the URDF with the links (only visual) and joints. Then, once you know it’s correct, add the collision and inertia. Test again, then add the gazebo material. Test, add one gazebo plugin, test, etc.</a:t>
            </a:r>
            <a:endParaRPr/>
          </a:p>
          <a:p>
            <a:pPr indent="-342900" lvl="0" marL="457200" rtl="0" algn="l">
              <a:spcBef>
                <a:spcPts val="0"/>
              </a:spcBef>
              <a:spcAft>
                <a:spcPts val="0"/>
              </a:spcAft>
              <a:buSzPts val="1800"/>
              <a:buChar char="●"/>
            </a:pPr>
            <a:r>
              <a:rPr lang="vi"/>
              <a:t>You don’t need to recreate any launch file, you can just use the ones that we’ve written previously and modify the URDF file path.</a:t>
            </a:r>
            <a:endParaRPr/>
          </a:p>
          <a:p>
            <a:pPr indent="-342900" lvl="0" marL="457200" rtl="0" algn="l">
              <a:spcBef>
                <a:spcPts val="0"/>
              </a:spcBef>
              <a:spcAft>
                <a:spcPts val="0"/>
              </a:spcAft>
              <a:buSzPts val="1800"/>
              <a:buChar char="●"/>
            </a:pPr>
            <a:r>
              <a:rPr lang="vi"/>
              <a:t>Don’t hesitate to come back to any previous lesson of this course if you need a refresher.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Steps for the project</a:t>
            </a:r>
            <a:endParaRPr/>
          </a:p>
        </p:txBody>
      </p:sp>
      <p:sp>
        <p:nvSpPr>
          <p:cNvPr id="85" name="Google Shape;85;p18"/>
          <p:cNvSpPr txBox="1"/>
          <p:nvPr>
            <p:ph idx="1" type="body"/>
          </p:nvPr>
        </p:nvSpPr>
        <p:spPr>
          <a:xfrm>
            <a:off x="113250" y="635700"/>
            <a:ext cx="8832600" cy="45078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vi"/>
              <a:t>Step 1: Create the new arm.xacro and standalone_arm.urdf.xacro files, write the links (only visual), joints, and materials. Use RViz to visualise what you build step by step.</a:t>
            </a:r>
            <a:endParaRPr/>
          </a:p>
          <a:p>
            <a:pPr indent="-342900" lvl="0" marL="457200" rtl="0" algn="l">
              <a:spcBef>
                <a:spcPts val="0"/>
              </a:spcBef>
              <a:spcAft>
                <a:spcPts val="0"/>
              </a:spcAft>
              <a:buSzPts val="1800"/>
              <a:buChar char="●"/>
            </a:pPr>
            <a:r>
              <a:rPr lang="vi"/>
              <a:t>Step 2: Add the collision and inertial tags in the links. Add the dynamics tags in the joints. Also create a new xacro file and add the gazebo material tags. Modify the existing launch file in my_robot_bringup to use the standalone_arm.urdf.xacro. Start the robot in gazebo.</a:t>
            </a:r>
            <a:endParaRPr/>
          </a:p>
          <a:p>
            <a:pPr indent="-342900" lvl="0" marL="457200" rtl="0" algn="l">
              <a:spcBef>
                <a:spcPts val="0"/>
              </a:spcBef>
              <a:spcAft>
                <a:spcPts val="0"/>
              </a:spcAft>
              <a:buSzPts val="1800"/>
              <a:buChar char="●"/>
            </a:pPr>
            <a:r>
              <a:rPr lang="vi"/>
              <a:t>Step 3: Add the joint_state_publisher gazebo plugin, so the TFs are correctly</a:t>
            </a:r>
            <a:endParaRPr/>
          </a:p>
          <a:p>
            <a:pPr indent="-342900" lvl="0" marL="457200" rtl="0" algn="l">
              <a:spcBef>
                <a:spcPts val="0"/>
              </a:spcBef>
              <a:spcAft>
                <a:spcPts val="0"/>
              </a:spcAft>
              <a:buSzPts val="1800"/>
              <a:buChar char="●"/>
            </a:pPr>
            <a:r>
              <a:rPr lang="vi"/>
              <a:t>published for the arm (and you can see them on RViz). Then, add the joint_pose_trajectory plugin to control the arm, and send a command from the terminal.</a:t>
            </a:r>
            <a:endParaRPr/>
          </a:p>
          <a:p>
            <a:pPr indent="-342900" lvl="0" marL="457200" rtl="0" algn="l">
              <a:spcBef>
                <a:spcPts val="0"/>
              </a:spcBef>
              <a:spcAft>
                <a:spcPts val="0"/>
              </a:spcAft>
              <a:buSzPts val="1800"/>
              <a:buChar char="●"/>
            </a:pPr>
            <a:r>
              <a:rPr lang="vi"/>
              <a:t>Step 4: integrate the arm in the my_robot.urdf.xacro file. Add a fixed joint between the base_link of the mobile base and the arm_base_link of the arm. Start and test the robot in gazebo using the launch file in my_robot_bringup.</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1 - URDF Links and Joints</a:t>
            </a:r>
            <a:endParaRPr/>
          </a:p>
        </p:txBody>
      </p:sp>
      <p:sp>
        <p:nvSpPr>
          <p:cNvPr id="91" name="Google Shape;91;p19"/>
          <p:cNvSpPr txBox="1"/>
          <p:nvPr>
            <p:ph idx="1" type="body"/>
          </p:nvPr>
        </p:nvSpPr>
        <p:spPr>
          <a:xfrm>
            <a:off x="1132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Create the xacro files for arm robot: arm.xacro and standalone_arm.urdf.xacro</a:t>
            </a:r>
            <a:endParaRPr/>
          </a:p>
        </p:txBody>
      </p:sp>
      <p:pic>
        <p:nvPicPr>
          <p:cNvPr id="92" name="Google Shape;92;p19"/>
          <p:cNvPicPr preferRelativeResize="0"/>
          <p:nvPr/>
        </p:nvPicPr>
        <p:blipFill>
          <a:blip r:embed="rId3">
            <a:alphaModFix/>
          </a:blip>
          <a:stretch>
            <a:fillRect/>
          </a:stretch>
        </p:blipFill>
        <p:spPr>
          <a:xfrm>
            <a:off x="779050" y="1108300"/>
            <a:ext cx="7585899" cy="4035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0"/>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1 - URDF Links and Joints</a:t>
            </a:r>
            <a:endParaRPr/>
          </a:p>
        </p:txBody>
      </p:sp>
      <p:sp>
        <p:nvSpPr>
          <p:cNvPr id="98" name="Google Shape;98;p20"/>
          <p:cNvSpPr txBox="1"/>
          <p:nvPr>
            <p:ph idx="1" type="body"/>
          </p:nvPr>
        </p:nvSpPr>
        <p:spPr>
          <a:xfrm>
            <a:off x="1132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Create xacro property for arm.xacro</a:t>
            </a:r>
            <a:endParaRPr/>
          </a:p>
        </p:txBody>
      </p:sp>
      <p:pic>
        <p:nvPicPr>
          <p:cNvPr id="99" name="Google Shape;99;p20"/>
          <p:cNvPicPr preferRelativeResize="0"/>
          <p:nvPr/>
        </p:nvPicPr>
        <p:blipFill>
          <a:blip r:embed="rId3">
            <a:alphaModFix/>
          </a:blip>
          <a:stretch>
            <a:fillRect/>
          </a:stretch>
        </p:blipFill>
        <p:spPr>
          <a:xfrm>
            <a:off x="624300" y="1390975"/>
            <a:ext cx="7810500" cy="2457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1 - URDF Links and Joints</a:t>
            </a:r>
            <a:endParaRPr/>
          </a:p>
        </p:txBody>
      </p:sp>
      <p:sp>
        <p:nvSpPr>
          <p:cNvPr id="105" name="Google Shape;105;p21"/>
          <p:cNvSpPr txBox="1"/>
          <p:nvPr>
            <p:ph idx="1" type="body"/>
          </p:nvPr>
        </p:nvSpPr>
        <p:spPr>
          <a:xfrm>
            <a:off x="53425" y="426375"/>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Create links for arm_base, forearm, hand in arm.xacro</a:t>
            </a:r>
            <a:endParaRPr/>
          </a:p>
        </p:txBody>
      </p:sp>
      <p:pic>
        <p:nvPicPr>
          <p:cNvPr id="106" name="Google Shape;106;p21"/>
          <p:cNvPicPr preferRelativeResize="0"/>
          <p:nvPr/>
        </p:nvPicPr>
        <p:blipFill>
          <a:blip r:embed="rId3">
            <a:alphaModFix/>
          </a:blip>
          <a:stretch>
            <a:fillRect/>
          </a:stretch>
        </p:blipFill>
        <p:spPr>
          <a:xfrm>
            <a:off x="-42450" y="865394"/>
            <a:ext cx="9144000" cy="427811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1 - URDF Links and Joints</a:t>
            </a:r>
            <a:endParaRPr/>
          </a:p>
        </p:txBody>
      </p:sp>
      <p:sp>
        <p:nvSpPr>
          <p:cNvPr id="112" name="Google Shape;112;p22"/>
          <p:cNvSpPr txBox="1"/>
          <p:nvPr>
            <p:ph idx="1" type="body"/>
          </p:nvPr>
        </p:nvSpPr>
        <p:spPr>
          <a:xfrm>
            <a:off x="53425" y="426375"/>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Create </a:t>
            </a:r>
            <a:r>
              <a:rPr lang="vi"/>
              <a:t>Joints</a:t>
            </a:r>
            <a:r>
              <a:rPr lang="vi"/>
              <a:t> for arm_base, forearm, hand in arm.xacro</a:t>
            </a:r>
            <a:endParaRPr/>
          </a:p>
        </p:txBody>
      </p:sp>
      <p:pic>
        <p:nvPicPr>
          <p:cNvPr id="113" name="Google Shape;113;p22"/>
          <p:cNvPicPr preferRelativeResize="0"/>
          <p:nvPr/>
        </p:nvPicPr>
        <p:blipFill>
          <a:blip r:embed="rId3">
            <a:alphaModFix/>
          </a:blip>
          <a:stretch>
            <a:fillRect/>
          </a:stretch>
        </p:blipFill>
        <p:spPr>
          <a:xfrm>
            <a:off x="0" y="1108300"/>
            <a:ext cx="9144000" cy="37660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1 - URDF Links and Joints</a:t>
            </a:r>
            <a:endParaRPr/>
          </a:p>
        </p:txBody>
      </p:sp>
      <p:sp>
        <p:nvSpPr>
          <p:cNvPr id="119" name="Google Shape;119;p23"/>
          <p:cNvSpPr txBox="1"/>
          <p:nvPr>
            <p:ph idx="1" type="body"/>
          </p:nvPr>
        </p:nvSpPr>
        <p:spPr>
          <a:xfrm>
            <a:off x="53425" y="426375"/>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Add orange and yellow to color properties</a:t>
            </a:r>
            <a:endParaRPr/>
          </a:p>
        </p:txBody>
      </p:sp>
      <p:pic>
        <p:nvPicPr>
          <p:cNvPr id="120" name="Google Shape;120;p23"/>
          <p:cNvPicPr preferRelativeResize="0"/>
          <p:nvPr/>
        </p:nvPicPr>
        <p:blipFill>
          <a:blip r:embed="rId3">
            <a:alphaModFix/>
          </a:blip>
          <a:stretch>
            <a:fillRect/>
          </a:stretch>
        </p:blipFill>
        <p:spPr>
          <a:xfrm>
            <a:off x="0" y="1060984"/>
            <a:ext cx="9144000" cy="387318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1 - URDF Links and Joints</a:t>
            </a:r>
            <a:endParaRPr/>
          </a:p>
        </p:txBody>
      </p:sp>
      <p:sp>
        <p:nvSpPr>
          <p:cNvPr id="126" name="Google Shape;126;p24"/>
          <p:cNvSpPr txBox="1"/>
          <p:nvPr>
            <p:ph idx="1" type="body"/>
          </p:nvPr>
        </p:nvSpPr>
        <p:spPr>
          <a:xfrm>
            <a:off x="53425" y="426375"/>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change urdf to standalone_arm.urdf.xacro</a:t>
            </a:r>
            <a:endParaRPr/>
          </a:p>
        </p:txBody>
      </p:sp>
      <p:pic>
        <p:nvPicPr>
          <p:cNvPr id="127" name="Google Shape;127;p24"/>
          <p:cNvPicPr preferRelativeResize="0"/>
          <p:nvPr/>
        </p:nvPicPr>
        <p:blipFill>
          <a:blip r:embed="rId3">
            <a:alphaModFix/>
          </a:blip>
          <a:stretch>
            <a:fillRect/>
          </a:stretch>
        </p:blipFill>
        <p:spPr>
          <a:xfrm>
            <a:off x="0" y="1110179"/>
            <a:ext cx="9143999" cy="2923142"/>
          </a:xfrm>
          <a:prstGeom prst="rect">
            <a:avLst/>
          </a:prstGeom>
          <a:noFill/>
          <a:ln>
            <a:noFill/>
          </a:ln>
        </p:spPr>
      </p:pic>
      <p:cxnSp>
        <p:nvCxnSpPr>
          <p:cNvPr id="128" name="Google Shape;128;p24"/>
          <p:cNvCxnSpPr/>
          <p:nvPr/>
        </p:nvCxnSpPr>
        <p:spPr>
          <a:xfrm flipH="1" rot="10800000">
            <a:off x="4916225" y="1927950"/>
            <a:ext cx="3199800" cy="19800"/>
          </a:xfrm>
          <a:prstGeom prst="straightConnector1">
            <a:avLst/>
          </a:prstGeom>
          <a:noFill/>
          <a:ln cap="flat" cmpd="sng" w="38100">
            <a:solidFill>
              <a:srgbClr val="FF0000"/>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1 - URDF Links and Joints</a:t>
            </a:r>
            <a:endParaRPr/>
          </a:p>
        </p:txBody>
      </p:sp>
      <p:sp>
        <p:nvSpPr>
          <p:cNvPr id="134" name="Google Shape;134;p25"/>
          <p:cNvSpPr txBox="1"/>
          <p:nvPr>
            <p:ph idx="1" type="body"/>
          </p:nvPr>
        </p:nvSpPr>
        <p:spPr>
          <a:xfrm>
            <a:off x="53425" y="426375"/>
            <a:ext cx="38292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colcon build</a:t>
            </a:r>
            <a:endParaRPr/>
          </a:p>
          <a:p>
            <a:pPr indent="-342900" lvl="0" marL="457200" rtl="0" algn="l">
              <a:spcBef>
                <a:spcPts val="0"/>
              </a:spcBef>
              <a:spcAft>
                <a:spcPts val="0"/>
              </a:spcAft>
              <a:buSzPts val="1800"/>
              <a:buChar char="●"/>
            </a:pPr>
            <a:r>
              <a:rPr lang="vi"/>
              <a:t>launch on RVIZ: ros2 launch my_robot_description.xml</a:t>
            </a:r>
            <a:endParaRPr/>
          </a:p>
          <a:p>
            <a:pPr indent="-342900" lvl="0" marL="457200" rtl="0" algn="l">
              <a:spcBef>
                <a:spcPts val="0"/>
              </a:spcBef>
              <a:spcAft>
                <a:spcPts val="0"/>
              </a:spcAft>
              <a:buSzPts val="1800"/>
              <a:buChar char="●"/>
            </a:pPr>
            <a:r>
              <a:rPr lang="vi"/>
              <a:t>In the red box, there are errors because of fixed frame is base_footprint</a:t>
            </a:r>
            <a:endParaRPr/>
          </a:p>
          <a:p>
            <a:pPr indent="0" lvl="0" marL="457200" rtl="0" algn="l">
              <a:spcBef>
                <a:spcPts val="1200"/>
              </a:spcBef>
              <a:spcAft>
                <a:spcPts val="1200"/>
              </a:spcAft>
              <a:buNone/>
            </a:pPr>
            <a:r>
              <a:t/>
            </a:r>
            <a:endParaRPr/>
          </a:p>
        </p:txBody>
      </p:sp>
      <p:pic>
        <p:nvPicPr>
          <p:cNvPr id="135" name="Google Shape;135;p25"/>
          <p:cNvPicPr preferRelativeResize="0"/>
          <p:nvPr/>
        </p:nvPicPr>
        <p:blipFill>
          <a:blip r:embed="rId3">
            <a:alphaModFix/>
          </a:blip>
          <a:stretch>
            <a:fillRect/>
          </a:stretch>
        </p:blipFill>
        <p:spPr>
          <a:xfrm>
            <a:off x="3882777" y="1198150"/>
            <a:ext cx="5261226" cy="3885549"/>
          </a:xfrm>
          <a:prstGeom prst="rect">
            <a:avLst/>
          </a:prstGeom>
          <a:noFill/>
          <a:ln>
            <a:noFill/>
          </a:ln>
        </p:spPr>
      </p:pic>
      <p:sp>
        <p:nvSpPr>
          <p:cNvPr id="136" name="Google Shape;136;p25"/>
          <p:cNvSpPr/>
          <p:nvPr/>
        </p:nvSpPr>
        <p:spPr>
          <a:xfrm>
            <a:off x="3959300" y="1549025"/>
            <a:ext cx="1515300" cy="11961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7" name="Google Shape;137;p25"/>
          <p:cNvSpPr/>
          <p:nvPr/>
        </p:nvSpPr>
        <p:spPr>
          <a:xfrm>
            <a:off x="4009150" y="1778300"/>
            <a:ext cx="1324200" cy="2394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pic>
        <p:nvPicPr>
          <p:cNvPr id="142" name="Google Shape;142;p26"/>
          <p:cNvPicPr preferRelativeResize="0"/>
          <p:nvPr/>
        </p:nvPicPr>
        <p:blipFill>
          <a:blip r:embed="rId3">
            <a:alphaModFix/>
          </a:blip>
          <a:stretch>
            <a:fillRect/>
          </a:stretch>
        </p:blipFill>
        <p:spPr>
          <a:xfrm>
            <a:off x="3359100" y="871200"/>
            <a:ext cx="5784901" cy="4272301"/>
          </a:xfrm>
          <a:prstGeom prst="rect">
            <a:avLst/>
          </a:prstGeom>
          <a:noFill/>
          <a:ln>
            <a:noFill/>
          </a:ln>
        </p:spPr>
      </p:pic>
      <p:sp>
        <p:nvSpPr>
          <p:cNvPr id="143" name="Google Shape;143;p26"/>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1 - URDF Links and Joints</a:t>
            </a:r>
            <a:endParaRPr/>
          </a:p>
        </p:txBody>
      </p:sp>
      <p:sp>
        <p:nvSpPr>
          <p:cNvPr id="144" name="Google Shape;144;p26"/>
          <p:cNvSpPr txBox="1"/>
          <p:nvPr>
            <p:ph idx="1" type="body"/>
          </p:nvPr>
        </p:nvSpPr>
        <p:spPr>
          <a:xfrm>
            <a:off x="53425" y="426375"/>
            <a:ext cx="38292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Change fixed frame to arm_base_link, it will be ok</a:t>
            </a:r>
            <a:endParaRPr/>
          </a:p>
          <a:p>
            <a:pPr indent="0" lvl="0" marL="457200" rtl="0" algn="l">
              <a:spcBef>
                <a:spcPts val="1200"/>
              </a:spcBef>
              <a:spcAft>
                <a:spcPts val="1200"/>
              </a:spcAft>
              <a:buNone/>
            </a:pPr>
            <a:r>
              <a:t/>
            </a:r>
            <a:endParaRPr/>
          </a:p>
        </p:txBody>
      </p:sp>
      <p:sp>
        <p:nvSpPr>
          <p:cNvPr id="145" name="Google Shape;145;p26"/>
          <p:cNvSpPr/>
          <p:nvPr/>
        </p:nvSpPr>
        <p:spPr>
          <a:xfrm>
            <a:off x="3430975" y="1309775"/>
            <a:ext cx="1734600" cy="1262100"/>
          </a:xfrm>
          <a:prstGeom prst="rect">
            <a:avLst/>
          </a:prstGeom>
          <a:no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6" name="Google Shape;146;p26"/>
          <p:cNvSpPr/>
          <p:nvPr/>
        </p:nvSpPr>
        <p:spPr>
          <a:xfrm>
            <a:off x="3553950" y="1512025"/>
            <a:ext cx="1412700" cy="206400"/>
          </a:xfrm>
          <a:prstGeom prst="rect">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2 - Adapt the Robot for Gazebo</a:t>
            </a:r>
            <a:endParaRPr/>
          </a:p>
        </p:txBody>
      </p:sp>
      <p:sp>
        <p:nvSpPr>
          <p:cNvPr id="152" name="Google Shape;152;p27"/>
          <p:cNvSpPr txBox="1"/>
          <p:nvPr>
            <p:ph idx="1" type="body"/>
          </p:nvPr>
        </p:nvSpPr>
        <p:spPr>
          <a:xfrm>
            <a:off x="1132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Add collision type  for arm_base_link, forearm_link,  hand_link,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8"/>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2 - Adapt the Robot for Gazebo</a:t>
            </a:r>
            <a:endParaRPr/>
          </a:p>
        </p:txBody>
      </p:sp>
      <p:sp>
        <p:nvSpPr>
          <p:cNvPr id="158" name="Google Shape;158;p28"/>
          <p:cNvSpPr txBox="1"/>
          <p:nvPr>
            <p:ph idx="1" type="body"/>
          </p:nvPr>
        </p:nvSpPr>
        <p:spPr>
          <a:xfrm>
            <a:off x="1132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Add </a:t>
            </a:r>
            <a:r>
              <a:rPr lang="vi"/>
              <a:t>inertia </a:t>
            </a:r>
            <a:r>
              <a:rPr lang="vi"/>
              <a:t> type  for arm_base_link, forearm_link,  hand_link,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9"/>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2 - Adapt the Robot for Gazebo</a:t>
            </a:r>
            <a:endParaRPr/>
          </a:p>
        </p:txBody>
      </p:sp>
      <p:sp>
        <p:nvSpPr>
          <p:cNvPr id="164" name="Google Shape;164;p29"/>
          <p:cNvSpPr txBox="1"/>
          <p:nvPr>
            <p:ph idx="1" type="body"/>
          </p:nvPr>
        </p:nvSpPr>
        <p:spPr>
          <a:xfrm>
            <a:off x="1132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vi"/>
              <a:t>Add </a:t>
            </a:r>
            <a:r>
              <a:rPr lang="vi"/>
              <a:t>friction and damping</a:t>
            </a:r>
            <a:r>
              <a:rPr lang="vi"/>
              <a:t>  type  for arm_base-</a:t>
            </a:r>
            <a:r>
              <a:rPr lang="vi"/>
              <a:t>forearm-hand joints</a:t>
            </a:r>
            <a:r>
              <a:rPr lang="vi"/>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0"/>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3 - Add Gazebo Plugins</a:t>
            </a:r>
            <a:endParaRPr/>
          </a:p>
        </p:txBody>
      </p:sp>
      <p:sp>
        <p:nvSpPr>
          <p:cNvPr id="170" name="Google Shape;170;p30"/>
          <p:cNvSpPr txBox="1"/>
          <p:nvPr>
            <p:ph idx="1" type="body"/>
          </p:nvPr>
        </p:nvSpPr>
        <p:spPr>
          <a:xfrm>
            <a:off x="1132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1"/>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Step 4 - Combine the 2 Robots</a:t>
            </a:r>
            <a:endParaRPr/>
          </a:p>
        </p:txBody>
      </p:sp>
      <p:sp>
        <p:nvSpPr>
          <p:cNvPr id="176" name="Google Shape;176;p31"/>
          <p:cNvSpPr txBox="1"/>
          <p:nvPr>
            <p:ph idx="1" type="body"/>
          </p:nvPr>
        </p:nvSpPr>
        <p:spPr>
          <a:xfrm>
            <a:off x="113250" y="635700"/>
            <a:ext cx="8832600" cy="4507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