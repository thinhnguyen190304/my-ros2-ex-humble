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17b0026a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17b0026a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8c96575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8c96575b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8c96575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8c96575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bbefea9b4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bbefea9b4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b17b0026a_0_1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b17b0026a_0_1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8c96575b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8c96575b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8c96575b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8c96575b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8c96575b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8c96575b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8cc34b5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8cc34b5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8cc34b5b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8cc34b5b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8cc34b5b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8cc34b5b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8cc34b5b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8cc34b5b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8cc34b5b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8cc34b5b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8cc34b5b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8cc34b5b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8c96575b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8c96575b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93d62e0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93d62e0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93d62e0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93d62e0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a06a93658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a06a93658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a06a93658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a06a93658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a06a93658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a06a93658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8c96575b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8c96575b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b793ae64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b793ae64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b793ae64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b793ae64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b793ae64b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bb793ae64b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b793ae64b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bb793ae64b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b793ae64b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b793ae64b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bbefea9b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bbefea9b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bbefea9b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bbbefea9b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bbefea9b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bbbefea9b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b8c96575b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b8c96575b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bbbefea9b4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bbbefea9b4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bbefea9b4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bbefea9b4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bbefea9b4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bbefea9b4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bbbefea9b4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bbbefea9b4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bbefea9b4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bbbefea9b4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ba06a93658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ba06a93658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a06a9365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a06a93658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drive.google.com/file/d/1dyHt8o9Rj4RGE5YNhxTmjk6_9ameOcFG/view" TargetMode="External"/><Relationship Id="rId4"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744575"/>
            <a:ext cx="91440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vi"/>
              <a:t>Simulate the robot in Gazebo</a:t>
            </a:r>
            <a:endParaRPr/>
          </a:p>
        </p:txBody>
      </p:sp>
      <p:sp>
        <p:nvSpPr>
          <p:cNvPr id="55" name="Google Shape;55;p13"/>
          <p:cNvSpPr txBox="1"/>
          <p:nvPr>
            <p:ph idx="1" type="subTitle"/>
          </p:nvPr>
        </p:nvSpPr>
        <p:spPr>
          <a:xfrm>
            <a:off x="1555300" y="3212775"/>
            <a:ext cx="4606800" cy="93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vi"/>
              <a:t>Final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61" name="Google Shape;61;p14"/>
          <p:cNvSpPr txBox="1"/>
          <p:nvPr>
            <p:ph idx="1" type="body"/>
          </p:nvPr>
        </p:nvSpPr>
        <p:spPr>
          <a:xfrm>
            <a:off x="95700" y="572700"/>
            <a:ext cx="8952600" cy="4570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Understanding about TFs, GAzebo, RVIZ, URDF and apply to create a robot</a:t>
            </a:r>
            <a:endParaRPr/>
          </a:p>
          <a:p>
            <a:pPr indent="-342900" lvl="0" marL="457200" rtl="0" algn="l">
              <a:spcBef>
                <a:spcPts val="0"/>
              </a:spcBef>
              <a:spcAft>
                <a:spcPts val="0"/>
              </a:spcAft>
              <a:buSzPts val="1800"/>
              <a:buChar char="●"/>
            </a:pPr>
            <a:r>
              <a:rPr lang="vi"/>
              <a:t>In this project you will add a small robotic arm (just 2 axis to keep it simple) on top of the mobile base that we have built together</a:t>
            </a:r>
            <a:endParaRPr/>
          </a:p>
          <a:p>
            <a:pPr indent="-342900" lvl="0" marL="457200" rtl="0" algn="l">
              <a:spcBef>
                <a:spcPts val="0"/>
              </a:spcBef>
              <a:spcAft>
                <a:spcPts val="0"/>
              </a:spcAft>
              <a:buSzPts val="1800"/>
              <a:buChar char="●"/>
            </a:pPr>
            <a:r>
              <a:rPr lang="vi"/>
              <a:t>The end result is a simple robotic arm on top of the mobile base, controlled by a quite simplistic gazebo plugin. So the arm won’t do anything fancy, but that’s not the goal here. The goal is to practise on what we’ve seen in this course, and to open the possibilities for what you can do next. Then after the course, if you want, you can learn more about robotic arm control, for example using the ROS Moveit(2) framework.</a:t>
            </a:r>
            <a:endParaRPr/>
          </a:p>
          <a:p>
            <a:pPr indent="-342900" lvl="0" marL="457200" rtl="0" algn="l">
              <a:spcBef>
                <a:spcPts val="0"/>
              </a:spcBef>
              <a:spcAft>
                <a:spcPts val="0"/>
              </a:spcAft>
              <a:buSzPts val="1800"/>
              <a:buChar char="●"/>
            </a:pPr>
            <a:r>
              <a:rPr lang="vi"/>
              <a:t>The best way to progress is to put in some time and effort to do the project on your own. It’s ok if you don’t manage to do it without help, as it’s a bit more challenging than the challenges I gave you before. But the more you try, the more you’ll learn. Then, if you did the project on your own, I still recommend you watch the solution, so you can compare and also see how I did it + get some best practices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67" name="Google Shape;67;p15"/>
          <p:cNvSpPr txBox="1"/>
          <p:nvPr>
            <p:ph idx="1" type="body"/>
          </p:nvPr>
        </p:nvSpPr>
        <p:spPr>
          <a:xfrm>
            <a:off x="95700" y="572700"/>
            <a:ext cx="8952600" cy="4570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Here are the specs you need to create the robot. Note that I didn’t provide all the possible values, just the ones you need to get started. From this you can compute the rest of the values, or (for the gazebo plugins) find more info by searching on the internet.</a:t>
            </a:r>
            <a:endParaRPr/>
          </a:p>
          <a:p>
            <a:pPr indent="-342900" lvl="0" marL="457200" rtl="0" algn="l">
              <a:spcBef>
                <a:spcPts val="0"/>
              </a:spcBef>
              <a:spcAft>
                <a:spcPts val="0"/>
              </a:spcAft>
              <a:buSzPts val="1800"/>
              <a:buChar char="●"/>
            </a:pPr>
            <a:r>
              <a:rPr lang="vi"/>
              <a:t>URDF Links:</a:t>
            </a:r>
            <a:endParaRPr/>
          </a:p>
          <a:p>
            <a:pPr indent="-317500" lvl="1" marL="914400" rtl="0" algn="l">
              <a:spcBef>
                <a:spcPts val="0"/>
              </a:spcBef>
              <a:spcAft>
                <a:spcPts val="0"/>
              </a:spcAft>
              <a:buSzPts val="1400"/>
              <a:buChar char="○"/>
            </a:pPr>
            <a:r>
              <a:rPr lang="vi"/>
              <a:t>arm_base_link:</a:t>
            </a:r>
            <a:endParaRPr/>
          </a:p>
          <a:p>
            <a:pPr indent="-317500" lvl="2" marL="1371600" rtl="0" algn="l">
              <a:spcBef>
                <a:spcPts val="0"/>
              </a:spcBef>
              <a:spcAft>
                <a:spcPts val="0"/>
              </a:spcAft>
              <a:buSzPts val="1400"/>
              <a:buChar char="■"/>
            </a:pPr>
            <a:r>
              <a:rPr lang="vi"/>
              <a:t>Box: size 0.1 0.1 0.02</a:t>
            </a:r>
            <a:endParaRPr/>
          </a:p>
          <a:p>
            <a:pPr indent="-317500" lvl="2" marL="1371600" rtl="0" algn="l">
              <a:spcBef>
                <a:spcPts val="0"/>
              </a:spcBef>
              <a:spcAft>
                <a:spcPts val="0"/>
              </a:spcAft>
              <a:buSzPts val="1400"/>
              <a:buChar char="■"/>
            </a:pPr>
            <a:r>
              <a:rPr lang="vi"/>
              <a:t>Color: orange</a:t>
            </a:r>
            <a:endParaRPr/>
          </a:p>
          <a:p>
            <a:pPr indent="-317500" lvl="2" marL="1371600" rtl="0" algn="l">
              <a:spcBef>
                <a:spcPts val="0"/>
              </a:spcBef>
              <a:spcAft>
                <a:spcPts val="0"/>
              </a:spcAft>
              <a:buSzPts val="1400"/>
              <a:buChar char="■"/>
            </a:pPr>
            <a:r>
              <a:rPr lang="vi"/>
              <a:t>Mass: 0.5</a:t>
            </a:r>
            <a:endParaRPr/>
          </a:p>
          <a:p>
            <a:pPr indent="-317500" lvl="1" marL="914400" rtl="0" algn="l">
              <a:spcBef>
                <a:spcPts val="0"/>
              </a:spcBef>
              <a:spcAft>
                <a:spcPts val="0"/>
              </a:spcAft>
              <a:buSzPts val="1400"/>
              <a:buChar char="○"/>
            </a:pPr>
            <a:r>
              <a:rPr lang="vi"/>
              <a:t>forearm_link:</a:t>
            </a:r>
            <a:endParaRPr/>
          </a:p>
          <a:p>
            <a:pPr indent="-317500" lvl="2" marL="1371600" rtl="0" algn="l">
              <a:spcBef>
                <a:spcPts val="0"/>
              </a:spcBef>
              <a:spcAft>
                <a:spcPts val="0"/>
              </a:spcAft>
              <a:buSzPts val="1400"/>
              <a:buChar char="■"/>
            </a:pPr>
            <a:r>
              <a:rPr lang="vi"/>
              <a:t>Cylinder: radius 0.02 length 0.3</a:t>
            </a:r>
            <a:endParaRPr/>
          </a:p>
          <a:p>
            <a:pPr indent="-317500" lvl="2" marL="1371600" rtl="0" algn="l">
              <a:spcBef>
                <a:spcPts val="0"/>
              </a:spcBef>
              <a:spcAft>
                <a:spcPts val="0"/>
              </a:spcAft>
              <a:buSzPts val="1400"/>
              <a:buChar char="■"/>
            </a:pPr>
            <a:r>
              <a:rPr lang="vi"/>
              <a:t>Color: yellow</a:t>
            </a:r>
            <a:endParaRPr/>
          </a:p>
          <a:p>
            <a:pPr indent="-317500" lvl="2" marL="1371600" rtl="0" algn="l">
              <a:spcBef>
                <a:spcPts val="0"/>
              </a:spcBef>
              <a:spcAft>
                <a:spcPts val="0"/>
              </a:spcAft>
              <a:buSzPts val="1400"/>
              <a:buChar char="■"/>
            </a:pPr>
            <a:r>
              <a:rPr lang="vi"/>
              <a:t>Mass: 0.3</a:t>
            </a:r>
            <a:endParaRPr/>
          </a:p>
          <a:p>
            <a:pPr indent="-317500" lvl="1" marL="914400" rtl="0" algn="l">
              <a:spcBef>
                <a:spcPts val="0"/>
              </a:spcBef>
              <a:spcAft>
                <a:spcPts val="0"/>
              </a:spcAft>
              <a:buSzPts val="1400"/>
              <a:buChar char="○"/>
            </a:pPr>
            <a:r>
              <a:rPr lang="vi"/>
              <a:t>hand_link:</a:t>
            </a:r>
            <a:endParaRPr/>
          </a:p>
          <a:p>
            <a:pPr indent="-317500" lvl="2" marL="1371600" rtl="0" algn="l">
              <a:spcBef>
                <a:spcPts val="0"/>
              </a:spcBef>
              <a:spcAft>
                <a:spcPts val="0"/>
              </a:spcAft>
              <a:buSzPts val="1400"/>
              <a:buChar char="■"/>
            </a:pPr>
            <a:r>
              <a:rPr lang="vi"/>
              <a:t>Cylinder: radius 0.02, length 0.3</a:t>
            </a:r>
            <a:endParaRPr/>
          </a:p>
          <a:p>
            <a:pPr indent="-317500" lvl="2" marL="1371600" rtl="0" algn="l">
              <a:spcBef>
                <a:spcPts val="0"/>
              </a:spcBef>
              <a:spcAft>
                <a:spcPts val="0"/>
              </a:spcAft>
              <a:buSzPts val="1400"/>
              <a:buChar char="■"/>
            </a:pPr>
            <a:r>
              <a:rPr lang="vi"/>
              <a:t>Color: orange</a:t>
            </a:r>
            <a:endParaRPr/>
          </a:p>
          <a:p>
            <a:pPr indent="-317500" lvl="2" marL="1371600" rtl="0" algn="l">
              <a:spcBef>
                <a:spcPts val="0"/>
              </a:spcBef>
              <a:spcAft>
                <a:spcPts val="0"/>
              </a:spcAft>
              <a:buSzPts val="1400"/>
              <a:buChar char="■"/>
            </a:pPr>
            <a:r>
              <a:rPr lang="vi"/>
              <a:t>Mass: 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73" name="Google Shape;73;p16"/>
          <p:cNvSpPr txBox="1"/>
          <p:nvPr>
            <p:ph idx="1" type="body"/>
          </p:nvPr>
        </p:nvSpPr>
        <p:spPr>
          <a:xfrm>
            <a:off x="95700" y="572700"/>
            <a:ext cx="8952600" cy="4570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vi"/>
              <a:t>URDF Joints:</a:t>
            </a:r>
            <a:endParaRPr b="1"/>
          </a:p>
          <a:p>
            <a:pPr indent="-317500" lvl="1" marL="914400" rtl="0" algn="l">
              <a:spcBef>
                <a:spcPts val="1200"/>
              </a:spcBef>
              <a:spcAft>
                <a:spcPts val="0"/>
              </a:spcAft>
              <a:buSzPts val="1400"/>
              <a:buChar char="○"/>
            </a:pPr>
            <a:r>
              <a:rPr lang="vi"/>
              <a:t>Between arm base and forearm:</a:t>
            </a:r>
            <a:endParaRPr/>
          </a:p>
          <a:p>
            <a:pPr indent="-317500" lvl="2" marL="1371600" rtl="0" algn="l">
              <a:spcBef>
                <a:spcPts val="0"/>
              </a:spcBef>
              <a:spcAft>
                <a:spcPts val="0"/>
              </a:spcAft>
              <a:buSzPts val="1400"/>
              <a:buChar char="■"/>
            </a:pPr>
            <a:r>
              <a:rPr lang="vi"/>
              <a:t>ype: revolute</a:t>
            </a:r>
            <a:endParaRPr/>
          </a:p>
          <a:p>
            <a:pPr indent="-317500" lvl="2" marL="1371600" rtl="0" algn="l">
              <a:spcBef>
                <a:spcPts val="0"/>
              </a:spcBef>
              <a:spcAft>
                <a:spcPts val="0"/>
              </a:spcAft>
              <a:buSzPts val="1400"/>
              <a:buChar char="■"/>
            </a:pPr>
            <a:r>
              <a:rPr lang="vi"/>
              <a:t>Limit: lower 0, upper pi/2, effort 100, velocity 100</a:t>
            </a:r>
            <a:endParaRPr/>
          </a:p>
          <a:p>
            <a:pPr indent="-317500" lvl="2" marL="1371600" rtl="0" algn="l">
              <a:spcBef>
                <a:spcPts val="0"/>
              </a:spcBef>
              <a:spcAft>
                <a:spcPts val="0"/>
              </a:spcAft>
              <a:buSzPts val="1400"/>
              <a:buChar char="■"/>
            </a:pPr>
            <a:r>
              <a:rPr lang="vi"/>
              <a:t>Add some friction with &lt;dynamics friction=”0.05” damping=”0.1” /&gt;</a:t>
            </a:r>
            <a:endParaRPr/>
          </a:p>
          <a:p>
            <a:pPr indent="-317500" lvl="1" marL="914400" rtl="0" algn="l">
              <a:spcBef>
                <a:spcPts val="0"/>
              </a:spcBef>
              <a:spcAft>
                <a:spcPts val="0"/>
              </a:spcAft>
              <a:buSzPts val="1400"/>
              <a:buChar char="○"/>
            </a:pPr>
            <a:r>
              <a:rPr lang="vi"/>
              <a:t>Between forearm and hand:</a:t>
            </a:r>
            <a:endParaRPr/>
          </a:p>
          <a:p>
            <a:pPr indent="-317500" lvl="2" marL="1371600" rtl="0" algn="l">
              <a:spcBef>
                <a:spcPts val="0"/>
              </a:spcBef>
              <a:spcAft>
                <a:spcPts val="0"/>
              </a:spcAft>
              <a:buSzPts val="1400"/>
              <a:buChar char="■"/>
            </a:pPr>
            <a:r>
              <a:rPr lang="vi"/>
              <a:t>Type: revolute</a:t>
            </a:r>
            <a:endParaRPr/>
          </a:p>
          <a:p>
            <a:pPr indent="-317500" lvl="2" marL="1371600" rtl="0" algn="l">
              <a:spcBef>
                <a:spcPts val="0"/>
              </a:spcBef>
              <a:spcAft>
                <a:spcPts val="0"/>
              </a:spcAft>
              <a:buSzPts val="1400"/>
              <a:buChar char="■"/>
            </a:pPr>
            <a:r>
              <a:rPr lang="vi"/>
              <a:t>Limit: lower 0, upper pi/2, effort 100, velocity 100</a:t>
            </a:r>
            <a:endParaRPr/>
          </a:p>
          <a:p>
            <a:pPr indent="-317500" lvl="2" marL="1371600" rtl="0" algn="l">
              <a:spcBef>
                <a:spcPts val="0"/>
              </a:spcBef>
              <a:spcAft>
                <a:spcPts val="0"/>
              </a:spcAft>
              <a:buSzPts val="1400"/>
              <a:buChar char="■"/>
            </a:pPr>
            <a:r>
              <a:rPr lang="vi"/>
              <a:t>Ad</a:t>
            </a:r>
            <a:r>
              <a:rPr lang="vi"/>
              <a:t>d some friction with &lt;dynamics friction=”0.05” damping=”0.1” /&gt;</a:t>
            </a:r>
            <a:endParaRPr/>
          </a:p>
          <a:p>
            <a:pPr indent="0" lvl="0" marL="457200" rtl="0" algn="l">
              <a:spcBef>
                <a:spcPts val="1200"/>
              </a:spcBef>
              <a:spcAft>
                <a:spcPts val="0"/>
              </a:spcAft>
              <a:buNone/>
            </a:pPr>
            <a:r>
              <a:rPr b="1" lang="vi"/>
              <a:t>Gazebo plugins with required fields:</a:t>
            </a:r>
            <a:endParaRPr b="1"/>
          </a:p>
          <a:p>
            <a:pPr indent="-317500" lvl="1" marL="914400" rtl="0" algn="l">
              <a:spcBef>
                <a:spcPts val="1200"/>
              </a:spcBef>
              <a:spcAft>
                <a:spcPts val="0"/>
              </a:spcAft>
              <a:buSzPts val="1400"/>
              <a:buChar char="○"/>
            </a:pPr>
            <a:r>
              <a:rPr lang="vi"/>
              <a:t>joint_state_publisher:</a:t>
            </a:r>
            <a:endParaRPr/>
          </a:p>
          <a:p>
            <a:pPr indent="-317500" lvl="2" marL="1371600" rtl="0" algn="l">
              <a:spcBef>
                <a:spcPts val="0"/>
              </a:spcBef>
              <a:spcAft>
                <a:spcPts val="0"/>
              </a:spcAft>
              <a:buSzPts val="1400"/>
              <a:buChar char="■"/>
            </a:pPr>
            <a:r>
              <a:rPr lang="vi"/>
              <a:t>update_rate: 10</a:t>
            </a:r>
            <a:endParaRPr/>
          </a:p>
          <a:p>
            <a:pPr indent="-317500" lvl="2" marL="1371600" rtl="0" algn="l">
              <a:spcBef>
                <a:spcPts val="0"/>
              </a:spcBef>
              <a:spcAft>
                <a:spcPts val="0"/>
              </a:spcAft>
              <a:buSzPts val="1400"/>
              <a:buChar char="■"/>
            </a:pPr>
            <a:r>
              <a:rPr lang="vi"/>
              <a:t>joint_name: one for each joint in the arm</a:t>
            </a:r>
            <a:endParaRPr/>
          </a:p>
          <a:p>
            <a:pPr indent="-317500" lvl="1" marL="914400" rtl="0" algn="l">
              <a:spcBef>
                <a:spcPts val="0"/>
              </a:spcBef>
              <a:spcAft>
                <a:spcPts val="0"/>
              </a:spcAft>
              <a:buSzPts val="1400"/>
              <a:buChar char="○"/>
            </a:pPr>
            <a:r>
              <a:rPr lang="vi"/>
              <a:t>joint_pose_trajectory:</a:t>
            </a:r>
            <a:endParaRPr/>
          </a:p>
          <a:p>
            <a:pPr indent="-317500" lvl="2" marL="1371600" rtl="0" algn="l">
              <a:spcBef>
                <a:spcPts val="0"/>
              </a:spcBef>
              <a:spcAft>
                <a:spcPts val="0"/>
              </a:spcAft>
              <a:buSzPts val="1400"/>
              <a:buChar char="■"/>
            </a:pPr>
            <a:r>
              <a:rPr lang="vi"/>
              <a:t>update_rate: 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79" name="Google Shape;79;p17"/>
          <p:cNvSpPr txBox="1"/>
          <p:nvPr>
            <p:ph idx="1" type="body"/>
          </p:nvPr>
        </p:nvSpPr>
        <p:spPr>
          <a:xfrm>
            <a:off x="95700" y="572700"/>
            <a:ext cx="8952600" cy="457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vi" sz="1500"/>
              <a:t>To test the joint_pose_trajectory plugin, run this command from the terminal:</a:t>
            </a:r>
            <a:endParaRPr sz="1500"/>
          </a:p>
          <a:p>
            <a:pPr indent="0" lvl="0" marL="0" rtl="0" algn="l">
              <a:spcBef>
                <a:spcPts val="1200"/>
              </a:spcBef>
              <a:spcAft>
                <a:spcPts val="0"/>
              </a:spcAft>
              <a:buClr>
                <a:schemeClr val="dk1"/>
              </a:buClr>
              <a:buSzPts val="1100"/>
              <a:buFont typeface="Arial"/>
              <a:buNone/>
            </a:pPr>
            <a:r>
              <a:rPr lang="vi" sz="1500"/>
              <a:t>ros2 topic pub -1 /set_joint_trajectory trajectory_msgs/msg/JointTrajectory '{header: {frame_id: arm_base_link}, joint_names: [arm_base_forearm_joint, forearm_hand_joint], points: [ {positions: {0.0, 0.0}} ]}'</a:t>
            </a:r>
            <a:endParaRPr sz="1500"/>
          </a:p>
          <a:p>
            <a:pPr indent="0" lvl="0" marL="0" rtl="0" algn="l">
              <a:spcBef>
                <a:spcPts val="1200"/>
              </a:spcBef>
              <a:spcAft>
                <a:spcPts val="1200"/>
              </a:spcAft>
              <a:buNone/>
            </a:pPr>
            <a:r>
              <a:t/>
            </a:r>
            <a:endParaRPr b="1"/>
          </a:p>
        </p:txBody>
      </p:sp>
      <p:pic>
        <p:nvPicPr>
          <p:cNvPr id="80" name="Google Shape;80;p17"/>
          <p:cNvPicPr preferRelativeResize="0"/>
          <p:nvPr/>
        </p:nvPicPr>
        <p:blipFill>
          <a:blip r:embed="rId3">
            <a:alphaModFix/>
          </a:blip>
          <a:stretch>
            <a:fillRect/>
          </a:stretch>
        </p:blipFill>
        <p:spPr>
          <a:xfrm>
            <a:off x="274813" y="2036238"/>
            <a:ext cx="7096125" cy="828675"/>
          </a:xfrm>
          <a:prstGeom prst="rect">
            <a:avLst/>
          </a:prstGeom>
          <a:noFill/>
          <a:ln>
            <a:noFill/>
          </a:ln>
        </p:spPr>
      </p:pic>
      <p:pic>
        <p:nvPicPr>
          <p:cNvPr id="81" name="Google Shape;81;p17"/>
          <p:cNvPicPr preferRelativeResize="0"/>
          <p:nvPr/>
        </p:nvPicPr>
        <p:blipFill>
          <a:blip r:embed="rId4">
            <a:alphaModFix/>
          </a:blip>
          <a:stretch>
            <a:fillRect/>
          </a:stretch>
        </p:blipFill>
        <p:spPr>
          <a:xfrm>
            <a:off x="274825" y="3398988"/>
            <a:ext cx="7181850" cy="809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Tips to get started</a:t>
            </a:r>
            <a:endParaRPr/>
          </a:p>
        </p:txBody>
      </p:sp>
      <p:sp>
        <p:nvSpPr>
          <p:cNvPr id="87" name="Google Shape;87;p18"/>
          <p:cNvSpPr txBox="1"/>
          <p:nvPr>
            <p:ph idx="1" type="body"/>
          </p:nvPr>
        </p:nvSpPr>
        <p:spPr>
          <a:xfrm>
            <a:off x="113250" y="635700"/>
            <a:ext cx="8793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vi"/>
              <a:t>T</a:t>
            </a:r>
            <a:r>
              <a:rPr lang="vi"/>
              <a:t>ips to get started Here are some additional tips to help you with the project::</a:t>
            </a:r>
            <a:endParaRPr/>
          </a:p>
          <a:p>
            <a:pPr indent="-342900" lvl="0" marL="457200" rtl="0" algn="l">
              <a:spcBef>
                <a:spcPts val="1200"/>
              </a:spcBef>
              <a:spcAft>
                <a:spcPts val="0"/>
              </a:spcAft>
              <a:buSzPts val="1800"/>
              <a:buChar char="●"/>
            </a:pPr>
            <a:r>
              <a:rPr lang="vi"/>
              <a:t>For the arm, you can create a new URDF file “arm.xacro”, and a “standalone_arm.urdf.xacro”. In the standalone file, you include the “arm.xacro” and “common_properties.xacro”. By doing this you will be able to test the arm on its own, before you attach it to the mobile base.</a:t>
            </a:r>
            <a:endParaRPr/>
          </a:p>
          <a:p>
            <a:pPr indent="-342900" lvl="0" marL="457200" rtl="0" algn="l">
              <a:spcBef>
                <a:spcPts val="0"/>
              </a:spcBef>
              <a:spcAft>
                <a:spcPts val="0"/>
              </a:spcAft>
              <a:buSzPts val="1800"/>
              <a:buChar char="●"/>
            </a:pPr>
            <a:r>
              <a:rPr lang="vi"/>
              <a:t>Work with small iterations: first write the URDF with the links (only visual) and joints. Then, once you know it’s correct, add the collision and inertia. Test again, then add the gazebo material. Test, add one gazebo plugin, test, etc.</a:t>
            </a:r>
            <a:endParaRPr/>
          </a:p>
          <a:p>
            <a:pPr indent="-342900" lvl="0" marL="457200" rtl="0" algn="l">
              <a:spcBef>
                <a:spcPts val="0"/>
              </a:spcBef>
              <a:spcAft>
                <a:spcPts val="0"/>
              </a:spcAft>
              <a:buSzPts val="1800"/>
              <a:buChar char="●"/>
            </a:pPr>
            <a:r>
              <a:rPr lang="vi"/>
              <a:t>You don’t need to recreate any launch file, you can just use the ones that we’ve written previously and modify the URDF file path.</a:t>
            </a:r>
            <a:endParaRPr/>
          </a:p>
          <a:p>
            <a:pPr indent="-342900" lvl="0" marL="457200" rtl="0" algn="l">
              <a:spcBef>
                <a:spcPts val="0"/>
              </a:spcBef>
              <a:spcAft>
                <a:spcPts val="0"/>
              </a:spcAft>
              <a:buSzPts val="1800"/>
              <a:buChar char="●"/>
            </a:pPr>
            <a:r>
              <a:rPr lang="vi"/>
              <a:t>Don’t hesitate to come back to any previous lesson of this course if you need a refresher.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Steps for the project</a:t>
            </a:r>
            <a:endParaRPr/>
          </a:p>
        </p:txBody>
      </p:sp>
      <p:sp>
        <p:nvSpPr>
          <p:cNvPr id="93" name="Google Shape;93;p19"/>
          <p:cNvSpPr txBox="1"/>
          <p:nvPr>
            <p:ph idx="1" type="body"/>
          </p:nvPr>
        </p:nvSpPr>
        <p:spPr>
          <a:xfrm>
            <a:off x="113250" y="635700"/>
            <a:ext cx="8832600" cy="4507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Step 1: Create the new arm.xacro and standalone_arm.urdf.xacro files, write the links (only visual), joints, and materials. Use RViz to visualise what you build step by step.</a:t>
            </a:r>
            <a:endParaRPr/>
          </a:p>
          <a:p>
            <a:pPr indent="-342900" lvl="0" marL="457200" rtl="0" algn="l">
              <a:spcBef>
                <a:spcPts val="0"/>
              </a:spcBef>
              <a:spcAft>
                <a:spcPts val="0"/>
              </a:spcAft>
              <a:buSzPts val="1800"/>
              <a:buChar char="●"/>
            </a:pPr>
            <a:r>
              <a:rPr lang="vi"/>
              <a:t>Step 2: Add the collision and inertial tags in the links. Add the dynamics tags in the joints. Also create a new xacro file and add the gazebo material tags. Modify the existing launch file in my_robot_bringup to use the standalone_arm.urdf.xacro. Start the robot in gazebo.</a:t>
            </a:r>
            <a:endParaRPr/>
          </a:p>
          <a:p>
            <a:pPr indent="-342900" lvl="0" marL="457200" rtl="0" algn="l">
              <a:spcBef>
                <a:spcPts val="0"/>
              </a:spcBef>
              <a:spcAft>
                <a:spcPts val="0"/>
              </a:spcAft>
              <a:buSzPts val="1800"/>
              <a:buChar char="●"/>
            </a:pPr>
            <a:r>
              <a:rPr lang="vi"/>
              <a:t>Step 3: Add the joint_state_publisher gazebo plugin, so the TFs are correctly</a:t>
            </a:r>
            <a:endParaRPr/>
          </a:p>
          <a:p>
            <a:pPr indent="-342900" lvl="0" marL="457200" rtl="0" algn="l">
              <a:spcBef>
                <a:spcPts val="0"/>
              </a:spcBef>
              <a:spcAft>
                <a:spcPts val="0"/>
              </a:spcAft>
              <a:buSzPts val="1800"/>
              <a:buChar char="●"/>
            </a:pPr>
            <a:r>
              <a:rPr lang="vi"/>
              <a:t>published for the arm (and you can see them on RViz). Then, add the joint_pose_trajectory plugin to control the arm, and send a command from the terminal.</a:t>
            </a:r>
            <a:endParaRPr/>
          </a:p>
          <a:p>
            <a:pPr indent="-342900" lvl="0" marL="457200" rtl="0" algn="l">
              <a:spcBef>
                <a:spcPts val="0"/>
              </a:spcBef>
              <a:spcAft>
                <a:spcPts val="0"/>
              </a:spcAft>
              <a:buSzPts val="1800"/>
              <a:buChar char="●"/>
            </a:pPr>
            <a:r>
              <a:rPr lang="vi"/>
              <a:t>Step 4: integrate the arm in the my_robot.urdf.xacro file. Add a fixed joint between the base_link of the mobile base and the arm_base_link of the arm. Start and test the robot in gazebo using the launch file in my_robot_bringup.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99" name="Google Shape;99;p20"/>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the xacro files for arm robot: arm.xacro and standalone_arm.urdf.xacro</a:t>
            </a:r>
            <a:endParaRPr/>
          </a:p>
        </p:txBody>
      </p:sp>
      <p:pic>
        <p:nvPicPr>
          <p:cNvPr id="100" name="Google Shape;100;p20"/>
          <p:cNvPicPr preferRelativeResize="0"/>
          <p:nvPr/>
        </p:nvPicPr>
        <p:blipFill>
          <a:blip r:embed="rId3">
            <a:alphaModFix/>
          </a:blip>
          <a:stretch>
            <a:fillRect/>
          </a:stretch>
        </p:blipFill>
        <p:spPr>
          <a:xfrm>
            <a:off x="779050" y="1108300"/>
            <a:ext cx="7585899" cy="4035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06" name="Google Shape;106;p21"/>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xacro property for arm.xacro</a:t>
            </a:r>
            <a:endParaRPr/>
          </a:p>
        </p:txBody>
      </p:sp>
      <p:pic>
        <p:nvPicPr>
          <p:cNvPr id="107" name="Google Shape;107;p21"/>
          <p:cNvPicPr preferRelativeResize="0"/>
          <p:nvPr/>
        </p:nvPicPr>
        <p:blipFill>
          <a:blip r:embed="rId3">
            <a:alphaModFix/>
          </a:blip>
          <a:stretch>
            <a:fillRect/>
          </a:stretch>
        </p:blipFill>
        <p:spPr>
          <a:xfrm>
            <a:off x="624300" y="1390975"/>
            <a:ext cx="7810500" cy="2457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13" name="Google Shape;113;p22"/>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links for arm_base, forearm, hand in arm.xacro</a:t>
            </a:r>
            <a:endParaRPr/>
          </a:p>
        </p:txBody>
      </p:sp>
      <p:pic>
        <p:nvPicPr>
          <p:cNvPr id="114" name="Google Shape;114;p22"/>
          <p:cNvPicPr preferRelativeResize="0"/>
          <p:nvPr/>
        </p:nvPicPr>
        <p:blipFill>
          <a:blip r:embed="rId3">
            <a:alphaModFix/>
          </a:blip>
          <a:stretch>
            <a:fillRect/>
          </a:stretch>
        </p:blipFill>
        <p:spPr>
          <a:xfrm>
            <a:off x="-42450" y="865394"/>
            <a:ext cx="9144000" cy="42781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20" name="Google Shape;120;p23"/>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a:t>
            </a:r>
            <a:r>
              <a:rPr lang="vi"/>
              <a:t>Joints</a:t>
            </a:r>
            <a:r>
              <a:rPr lang="vi"/>
              <a:t> for arm_base, forearm, hand in arm.xacro</a:t>
            </a:r>
            <a:endParaRPr/>
          </a:p>
        </p:txBody>
      </p:sp>
      <p:pic>
        <p:nvPicPr>
          <p:cNvPr id="121" name="Google Shape;121;p23"/>
          <p:cNvPicPr preferRelativeResize="0"/>
          <p:nvPr/>
        </p:nvPicPr>
        <p:blipFill>
          <a:blip r:embed="rId3">
            <a:alphaModFix/>
          </a:blip>
          <a:stretch>
            <a:fillRect/>
          </a:stretch>
        </p:blipFill>
        <p:spPr>
          <a:xfrm>
            <a:off x="0" y="1108300"/>
            <a:ext cx="9144000" cy="37660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27" name="Google Shape;127;p24"/>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orange and yellow to color properties</a:t>
            </a:r>
            <a:endParaRPr/>
          </a:p>
        </p:txBody>
      </p:sp>
      <p:pic>
        <p:nvPicPr>
          <p:cNvPr id="128" name="Google Shape;128;p24"/>
          <p:cNvPicPr preferRelativeResize="0"/>
          <p:nvPr/>
        </p:nvPicPr>
        <p:blipFill>
          <a:blip r:embed="rId3">
            <a:alphaModFix/>
          </a:blip>
          <a:stretch>
            <a:fillRect/>
          </a:stretch>
        </p:blipFill>
        <p:spPr>
          <a:xfrm>
            <a:off x="0" y="1060984"/>
            <a:ext cx="9144000" cy="38731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34" name="Google Shape;134;p25"/>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change urdf to standalone_arm.urdf.xacro</a:t>
            </a:r>
            <a:endParaRPr/>
          </a:p>
        </p:txBody>
      </p:sp>
      <p:pic>
        <p:nvPicPr>
          <p:cNvPr id="135" name="Google Shape;135;p25"/>
          <p:cNvPicPr preferRelativeResize="0"/>
          <p:nvPr/>
        </p:nvPicPr>
        <p:blipFill>
          <a:blip r:embed="rId3">
            <a:alphaModFix/>
          </a:blip>
          <a:stretch>
            <a:fillRect/>
          </a:stretch>
        </p:blipFill>
        <p:spPr>
          <a:xfrm>
            <a:off x="0" y="1110179"/>
            <a:ext cx="9143999" cy="2923142"/>
          </a:xfrm>
          <a:prstGeom prst="rect">
            <a:avLst/>
          </a:prstGeom>
          <a:noFill/>
          <a:ln>
            <a:noFill/>
          </a:ln>
        </p:spPr>
      </p:pic>
      <p:cxnSp>
        <p:nvCxnSpPr>
          <p:cNvPr id="136" name="Google Shape;136;p25"/>
          <p:cNvCxnSpPr/>
          <p:nvPr/>
        </p:nvCxnSpPr>
        <p:spPr>
          <a:xfrm flipH="1" rot="10800000">
            <a:off x="4916225" y="1927950"/>
            <a:ext cx="3199800" cy="198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42" name="Google Shape;142;p26"/>
          <p:cNvSpPr txBox="1"/>
          <p:nvPr>
            <p:ph idx="1" type="body"/>
          </p:nvPr>
        </p:nvSpPr>
        <p:spPr>
          <a:xfrm>
            <a:off x="53425" y="426375"/>
            <a:ext cx="38292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colcon build</a:t>
            </a:r>
            <a:endParaRPr/>
          </a:p>
          <a:p>
            <a:pPr indent="-342900" lvl="0" marL="457200" rtl="0" algn="l">
              <a:spcBef>
                <a:spcPts val="0"/>
              </a:spcBef>
              <a:spcAft>
                <a:spcPts val="0"/>
              </a:spcAft>
              <a:buSzPts val="1800"/>
              <a:buChar char="●"/>
            </a:pPr>
            <a:r>
              <a:rPr lang="vi"/>
              <a:t>launch on RVIZ: ros2 launch my_robot_description.xml</a:t>
            </a:r>
            <a:endParaRPr/>
          </a:p>
          <a:p>
            <a:pPr indent="-342900" lvl="0" marL="457200" rtl="0" algn="l">
              <a:spcBef>
                <a:spcPts val="0"/>
              </a:spcBef>
              <a:spcAft>
                <a:spcPts val="0"/>
              </a:spcAft>
              <a:buSzPts val="1800"/>
              <a:buChar char="●"/>
            </a:pPr>
            <a:r>
              <a:rPr lang="vi"/>
              <a:t>In the red box, there are errors because of fixed frame is base_footprint</a:t>
            </a:r>
            <a:endParaRPr/>
          </a:p>
          <a:p>
            <a:pPr indent="0" lvl="0" marL="457200" rtl="0" algn="l">
              <a:spcBef>
                <a:spcPts val="1200"/>
              </a:spcBef>
              <a:spcAft>
                <a:spcPts val="1200"/>
              </a:spcAft>
              <a:buNone/>
            </a:pPr>
            <a:r>
              <a:t/>
            </a:r>
            <a:endParaRPr/>
          </a:p>
        </p:txBody>
      </p:sp>
      <p:pic>
        <p:nvPicPr>
          <p:cNvPr id="143" name="Google Shape;143;p26"/>
          <p:cNvPicPr preferRelativeResize="0"/>
          <p:nvPr/>
        </p:nvPicPr>
        <p:blipFill>
          <a:blip r:embed="rId3">
            <a:alphaModFix/>
          </a:blip>
          <a:stretch>
            <a:fillRect/>
          </a:stretch>
        </p:blipFill>
        <p:spPr>
          <a:xfrm>
            <a:off x="3882777" y="1198150"/>
            <a:ext cx="5261226" cy="3885549"/>
          </a:xfrm>
          <a:prstGeom prst="rect">
            <a:avLst/>
          </a:prstGeom>
          <a:noFill/>
          <a:ln>
            <a:noFill/>
          </a:ln>
        </p:spPr>
      </p:pic>
      <p:sp>
        <p:nvSpPr>
          <p:cNvPr id="144" name="Google Shape;144;p26"/>
          <p:cNvSpPr/>
          <p:nvPr/>
        </p:nvSpPr>
        <p:spPr>
          <a:xfrm>
            <a:off x="3959300" y="1549025"/>
            <a:ext cx="1515300" cy="1196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6"/>
          <p:cNvSpPr/>
          <p:nvPr/>
        </p:nvSpPr>
        <p:spPr>
          <a:xfrm>
            <a:off x="4009150" y="1778300"/>
            <a:ext cx="1324200" cy="239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7"/>
          <p:cNvPicPr preferRelativeResize="0"/>
          <p:nvPr/>
        </p:nvPicPr>
        <p:blipFill>
          <a:blip r:embed="rId3">
            <a:alphaModFix/>
          </a:blip>
          <a:stretch>
            <a:fillRect/>
          </a:stretch>
        </p:blipFill>
        <p:spPr>
          <a:xfrm>
            <a:off x="3359100" y="871200"/>
            <a:ext cx="5784901" cy="4272301"/>
          </a:xfrm>
          <a:prstGeom prst="rect">
            <a:avLst/>
          </a:prstGeom>
          <a:noFill/>
          <a:ln>
            <a:noFill/>
          </a:ln>
        </p:spPr>
      </p:pic>
      <p:sp>
        <p:nvSpPr>
          <p:cNvPr id="151" name="Google Shape;151;p2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52" name="Google Shape;152;p27"/>
          <p:cNvSpPr txBox="1"/>
          <p:nvPr>
            <p:ph idx="1" type="body"/>
          </p:nvPr>
        </p:nvSpPr>
        <p:spPr>
          <a:xfrm>
            <a:off x="53425" y="426375"/>
            <a:ext cx="38292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Change fixed frame to arm_base_link, it will be ok, because the arm has no base_footprint frame</a:t>
            </a:r>
            <a:endParaRPr/>
          </a:p>
          <a:p>
            <a:pPr indent="0" lvl="0" marL="457200" rtl="0" algn="l">
              <a:spcBef>
                <a:spcPts val="1200"/>
              </a:spcBef>
              <a:spcAft>
                <a:spcPts val="1200"/>
              </a:spcAft>
              <a:buNone/>
            </a:pPr>
            <a:r>
              <a:t/>
            </a:r>
            <a:endParaRPr/>
          </a:p>
        </p:txBody>
      </p:sp>
      <p:sp>
        <p:nvSpPr>
          <p:cNvPr id="153" name="Google Shape;153;p27"/>
          <p:cNvSpPr/>
          <p:nvPr/>
        </p:nvSpPr>
        <p:spPr>
          <a:xfrm>
            <a:off x="3430975" y="1309775"/>
            <a:ext cx="1734600" cy="12621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7"/>
          <p:cNvSpPr/>
          <p:nvPr/>
        </p:nvSpPr>
        <p:spPr>
          <a:xfrm>
            <a:off x="3553950" y="1512025"/>
            <a:ext cx="1412700" cy="2064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60" name="Google Shape;160;p28"/>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collision type  for arm_base_link, forearm_link,  hand_link in arm.xacro </a:t>
            </a:r>
            <a:endParaRPr/>
          </a:p>
        </p:txBody>
      </p:sp>
      <p:pic>
        <p:nvPicPr>
          <p:cNvPr id="161" name="Google Shape;161;p28"/>
          <p:cNvPicPr preferRelativeResize="0"/>
          <p:nvPr/>
        </p:nvPicPr>
        <p:blipFill>
          <a:blip r:embed="rId3">
            <a:alphaModFix/>
          </a:blip>
          <a:stretch>
            <a:fillRect/>
          </a:stretch>
        </p:blipFill>
        <p:spPr>
          <a:xfrm>
            <a:off x="828675" y="1086288"/>
            <a:ext cx="8315325" cy="1152525"/>
          </a:xfrm>
          <a:prstGeom prst="rect">
            <a:avLst/>
          </a:prstGeom>
          <a:noFill/>
          <a:ln>
            <a:noFill/>
          </a:ln>
        </p:spPr>
      </p:pic>
      <p:pic>
        <p:nvPicPr>
          <p:cNvPr id="162" name="Google Shape;162;p28"/>
          <p:cNvPicPr preferRelativeResize="0"/>
          <p:nvPr/>
        </p:nvPicPr>
        <p:blipFill>
          <a:blip r:embed="rId4">
            <a:alphaModFix/>
          </a:blip>
          <a:stretch>
            <a:fillRect/>
          </a:stretch>
        </p:blipFill>
        <p:spPr>
          <a:xfrm>
            <a:off x="842963" y="2434938"/>
            <a:ext cx="8286750" cy="1171575"/>
          </a:xfrm>
          <a:prstGeom prst="rect">
            <a:avLst/>
          </a:prstGeom>
          <a:noFill/>
          <a:ln>
            <a:noFill/>
          </a:ln>
        </p:spPr>
      </p:pic>
      <p:pic>
        <p:nvPicPr>
          <p:cNvPr id="163" name="Google Shape;163;p28"/>
          <p:cNvPicPr preferRelativeResize="0"/>
          <p:nvPr/>
        </p:nvPicPr>
        <p:blipFill>
          <a:blip r:embed="rId5">
            <a:alphaModFix/>
          </a:blip>
          <a:stretch>
            <a:fillRect/>
          </a:stretch>
        </p:blipFill>
        <p:spPr>
          <a:xfrm>
            <a:off x="828663" y="3802638"/>
            <a:ext cx="8201025" cy="1076325"/>
          </a:xfrm>
          <a:prstGeom prst="rect">
            <a:avLst/>
          </a:prstGeom>
          <a:noFill/>
          <a:ln>
            <a:noFill/>
          </a:ln>
        </p:spPr>
      </p:pic>
      <p:sp>
        <p:nvSpPr>
          <p:cNvPr id="164" name="Google Shape;164;p28"/>
          <p:cNvSpPr txBox="1"/>
          <p:nvPr/>
        </p:nvSpPr>
        <p:spPr>
          <a:xfrm>
            <a:off x="-47850" y="1403100"/>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arm_base</a:t>
            </a:r>
            <a:endParaRPr b="1" sz="1200">
              <a:solidFill>
                <a:schemeClr val="dk2"/>
              </a:solidFill>
            </a:endParaRPr>
          </a:p>
        </p:txBody>
      </p:sp>
      <p:sp>
        <p:nvSpPr>
          <p:cNvPr id="165" name="Google Shape;165;p28"/>
          <p:cNvSpPr txBox="1"/>
          <p:nvPr/>
        </p:nvSpPr>
        <p:spPr>
          <a:xfrm>
            <a:off x="-47850" y="2917825"/>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forearm</a:t>
            </a:r>
            <a:endParaRPr b="1" sz="1200">
              <a:solidFill>
                <a:schemeClr val="dk2"/>
              </a:solidFill>
            </a:endParaRPr>
          </a:p>
        </p:txBody>
      </p:sp>
      <p:sp>
        <p:nvSpPr>
          <p:cNvPr id="166" name="Google Shape;166;p28"/>
          <p:cNvSpPr txBox="1"/>
          <p:nvPr/>
        </p:nvSpPr>
        <p:spPr>
          <a:xfrm>
            <a:off x="-47850" y="4156163"/>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hand</a:t>
            </a:r>
            <a:endParaRPr b="1" sz="12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72" name="Google Shape;172;p29"/>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a:t>
            </a:r>
            <a:r>
              <a:rPr lang="vi"/>
              <a:t>inertia </a:t>
            </a:r>
            <a:r>
              <a:rPr lang="vi"/>
              <a:t> type  for arm_base_link, forearm_link,  hand_link, </a:t>
            </a:r>
            <a:endParaRPr/>
          </a:p>
        </p:txBody>
      </p:sp>
      <p:pic>
        <p:nvPicPr>
          <p:cNvPr id="173" name="Google Shape;173;p29"/>
          <p:cNvPicPr preferRelativeResize="0"/>
          <p:nvPr/>
        </p:nvPicPr>
        <p:blipFill>
          <a:blip r:embed="rId3">
            <a:alphaModFix/>
          </a:blip>
          <a:stretch>
            <a:fillRect/>
          </a:stretch>
        </p:blipFill>
        <p:spPr>
          <a:xfrm>
            <a:off x="0" y="1514477"/>
            <a:ext cx="9144000" cy="576146"/>
          </a:xfrm>
          <a:prstGeom prst="rect">
            <a:avLst/>
          </a:prstGeom>
          <a:noFill/>
          <a:ln>
            <a:noFill/>
          </a:ln>
        </p:spPr>
      </p:pic>
      <p:sp>
        <p:nvSpPr>
          <p:cNvPr id="174" name="Google Shape;174;p29"/>
          <p:cNvSpPr txBox="1"/>
          <p:nvPr/>
        </p:nvSpPr>
        <p:spPr>
          <a:xfrm>
            <a:off x="0" y="1145175"/>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arm_base</a:t>
            </a:r>
            <a:endParaRPr b="1" sz="1200">
              <a:solidFill>
                <a:schemeClr val="dk2"/>
              </a:solidFill>
            </a:endParaRPr>
          </a:p>
        </p:txBody>
      </p:sp>
      <p:pic>
        <p:nvPicPr>
          <p:cNvPr id="175" name="Google Shape;175;p29"/>
          <p:cNvPicPr preferRelativeResize="0"/>
          <p:nvPr/>
        </p:nvPicPr>
        <p:blipFill>
          <a:blip r:embed="rId4">
            <a:alphaModFix/>
          </a:blip>
          <a:stretch>
            <a:fillRect/>
          </a:stretch>
        </p:blipFill>
        <p:spPr>
          <a:xfrm>
            <a:off x="0" y="2510202"/>
            <a:ext cx="9144000" cy="576146"/>
          </a:xfrm>
          <a:prstGeom prst="rect">
            <a:avLst/>
          </a:prstGeom>
          <a:noFill/>
          <a:ln>
            <a:noFill/>
          </a:ln>
        </p:spPr>
      </p:pic>
      <p:sp>
        <p:nvSpPr>
          <p:cNvPr id="176" name="Google Shape;176;p29"/>
          <p:cNvSpPr txBox="1"/>
          <p:nvPr/>
        </p:nvSpPr>
        <p:spPr>
          <a:xfrm>
            <a:off x="0" y="2140900"/>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forearm</a:t>
            </a:r>
            <a:endParaRPr b="1" sz="1200">
              <a:solidFill>
                <a:schemeClr val="dk2"/>
              </a:solidFill>
            </a:endParaRPr>
          </a:p>
        </p:txBody>
      </p:sp>
      <p:pic>
        <p:nvPicPr>
          <p:cNvPr id="177" name="Google Shape;177;p29"/>
          <p:cNvPicPr preferRelativeResize="0"/>
          <p:nvPr/>
        </p:nvPicPr>
        <p:blipFill>
          <a:blip r:embed="rId5">
            <a:alphaModFix/>
          </a:blip>
          <a:stretch>
            <a:fillRect/>
          </a:stretch>
        </p:blipFill>
        <p:spPr>
          <a:xfrm>
            <a:off x="0" y="3505927"/>
            <a:ext cx="9144000" cy="576146"/>
          </a:xfrm>
          <a:prstGeom prst="rect">
            <a:avLst/>
          </a:prstGeom>
          <a:noFill/>
          <a:ln>
            <a:noFill/>
          </a:ln>
        </p:spPr>
      </p:pic>
      <p:sp>
        <p:nvSpPr>
          <p:cNvPr id="178" name="Google Shape;178;p29"/>
          <p:cNvSpPr txBox="1"/>
          <p:nvPr/>
        </p:nvSpPr>
        <p:spPr>
          <a:xfrm>
            <a:off x="0" y="3086350"/>
            <a:ext cx="99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chemeClr val="dk2"/>
                </a:solidFill>
              </a:rPr>
              <a:t>hand</a:t>
            </a:r>
            <a:endParaRPr b="1" sz="12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84" name="Google Shape;184;p30"/>
          <p:cNvSpPr txBox="1"/>
          <p:nvPr>
            <p:ph idx="1" type="body"/>
          </p:nvPr>
        </p:nvSpPr>
        <p:spPr>
          <a:xfrm>
            <a:off x="-150" y="635700"/>
            <a:ext cx="9144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vi"/>
              <a:t>Add </a:t>
            </a:r>
            <a:r>
              <a:rPr lang="vi"/>
              <a:t>friction and damping</a:t>
            </a:r>
            <a:r>
              <a:rPr lang="vi"/>
              <a:t>  type  for </a:t>
            </a:r>
            <a:r>
              <a:rPr lang="vi" sz="1050">
                <a:solidFill>
                  <a:srgbClr val="CE9178"/>
                </a:solidFill>
                <a:highlight>
                  <a:srgbClr val="1F1F1F"/>
                </a:highlight>
                <a:latin typeface="Courier New"/>
                <a:ea typeface="Courier New"/>
                <a:cs typeface="Courier New"/>
                <a:sym typeface="Courier New"/>
              </a:rPr>
              <a:t>arm_base_forearm_joint</a:t>
            </a:r>
            <a:r>
              <a:rPr lang="vi"/>
              <a:t>, </a:t>
            </a:r>
            <a:r>
              <a:rPr lang="vi"/>
              <a:t>and </a:t>
            </a:r>
            <a:r>
              <a:rPr lang="vi" sz="1050">
                <a:solidFill>
                  <a:srgbClr val="CE9178"/>
                </a:solidFill>
                <a:highlight>
                  <a:srgbClr val="1F1F1F"/>
                </a:highlight>
                <a:latin typeface="Courier New"/>
                <a:ea typeface="Courier New"/>
                <a:cs typeface="Courier New"/>
                <a:sym typeface="Courier New"/>
              </a:rPr>
              <a:t>forearm_hand_joint </a:t>
            </a:r>
            <a:r>
              <a:rPr lang="vi"/>
              <a:t>in arm.xacro</a:t>
            </a:r>
            <a:endParaRPr/>
          </a:p>
        </p:txBody>
      </p:sp>
      <p:pic>
        <p:nvPicPr>
          <p:cNvPr id="185" name="Google Shape;185;p30"/>
          <p:cNvPicPr preferRelativeResize="0"/>
          <p:nvPr/>
        </p:nvPicPr>
        <p:blipFill>
          <a:blip r:embed="rId3">
            <a:alphaModFix/>
          </a:blip>
          <a:stretch>
            <a:fillRect/>
          </a:stretch>
        </p:blipFill>
        <p:spPr>
          <a:xfrm>
            <a:off x="337975" y="1008025"/>
            <a:ext cx="8467725" cy="3448050"/>
          </a:xfrm>
          <a:prstGeom prst="rect">
            <a:avLst/>
          </a:prstGeom>
          <a:noFill/>
          <a:ln>
            <a:noFill/>
          </a:ln>
        </p:spPr>
      </p:pic>
      <p:cxnSp>
        <p:nvCxnSpPr>
          <p:cNvPr id="186" name="Google Shape;186;p30"/>
          <p:cNvCxnSpPr/>
          <p:nvPr/>
        </p:nvCxnSpPr>
        <p:spPr>
          <a:xfrm flipH="1" rot="10800000">
            <a:off x="1660750" y="4238950"/>
            <a:ext cx="3364200" cy="9300"/>
          </a:xfrm>
          <a:prstGeom prst="straightConnector1">
            <a:avLst/>
          </a:prstGeom>
          <a:noFill/>
          <a:ln cap="flat" cmpd="sng" w="38100">
            <a:solidFill>
              <a:srgbClr val="FF0000"/>
            </a:solidFill>
            <a:prstDash val="solid"/>
            <a:round/>
            <a:headEnd len="med" w="med" type="none"/>
            <a:tailEnd len="med" w="med" type="none"/>
          </a:ln>
        </p:spPr>
      </p:cxnSp>
      <p:cxnSp>
        <p:nvCxnSpPr>
          <p:cNvPr id="187" name="Google Shape;187;p30"/>
          <p:cNvCxnSpPr/>
          <p:nvPr/>
        </p:nvCxnSpPr>
        <p:spPr>
          <a:xfrm flipH="1" rot="10800000">
            <a:off x="1660750" y="2649050"/>
            <a:ext cx="3364200" cy="9300"/>
          </a:xfrm>
          <a:prstGeom prst="straightConnector1">
            <a:avLst/>
          </a:prstGeom>
          <a:noFill/>
          <a:ln cap="flat" cmpd="sng" w="38100">
            <a:solidFill>
              <a:srgbClr val="FF0000"/>
            </a:solidFill>
            <a:prstDash val="solid"/>
            <a:round/>
            <a:headEnd len="med" w="med" type="none"/>
            <a:tailEnd len="med" w="med" type="none"/>
          </a:ln>
        </p:spPr>
      </p:cxnSp>
      <p:sp>
        <p:nvSpPr>
          <p:cNvPr id="188" name="Google Shape;188;p30"/>
          <p:cNvSpPr txBox="1"/>
          <p:nvPr/>
        </p:nvSpPr>
        <p:spPr>
          <a:xfrm>
            <a:off x="0" y="4456075"/>
            <a:ext cx="9144000" cy="400200"/>
          </a:xfrm>
          <a:prstGeom prst="rect">
            <a:avLst/>
          </a:prstGeom>
          <a:noFill/>
          <a:ln>
            <a:noFill/>
          </a:ln>
        </p:spPr>
        <p:txBody>
          <a:bodyPr anchorCtr="0" anchor="t" bIns="91425" lIns="91425" spcFirstLastPara="1" rIns="91425" wrap="square" tIns="91425">
            <a:spAutoFit/>
          </a:bodyPr>
          <a:lstStyle/>
          <a:p>
            <a:pPr indent="-317500" lvl="2" marL="1371600" rtl="0" algn="l">
              <a:lnSpc>
                <a:spcPct val="115000"/>
              </a:lnSpc>
              <a:spcBef>
                <a:spcPts val="0"/>
              </a:spcBef>
              <a:spcAft>
                <a:spcPts val="0"/>
              </a:spcAft>
              <a:buClr>
                <a:schemeClr val="dk2"/>
              </a:buClr>
              <a:buSzPts val="1400"/>
              <a:buChar char="■"/>
            </a:pPr>
            <a:r>
              <a:rPr lang="vi">
                <a:solidFill>
                  <a:schemeClr val="dk2"/>
                </a:solidFill>
              </a:rPr>
              <a:t>Add some friction with &lt;dynamics friction=”0.05” damping=”0.1” /&gt;</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94" name="Google Shape;194;p31"/>
          <p:cNvSpPr txBox="1"/>
          <p:nvPr>
            <p:ph idx="1" type="body"/>
          </p:nvPr>
        </p:nvSpPr>
        <p:spPr>
          <a:xfrm>
            <a:off x="-150" y="635700"/>
            <a:ext cx="9144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This step, we just run on standalone robot arm. Then we need to config on launch files to run standalone_arm.urdf.xacro </a:t>
            </a:r>
            <a:endParaRPr/>
          </a:p>
          <a:p>
            <a:pPr indent="0" lvl="0" marL="0" rtl="0" algn="l">
              <a:spcBef>
                <a:spcPts val="1200"/>
              </a:spcBef>
              <a:spcAft>
                <a:spcPts val="1200"/>
              </a:spcAft>
              <a:buNone/>
            </a:pPr>
            <a:r>
              <a:rPr lang="vi"/>
              <a:t>On the urdf path of my_robot_description/launch/display.launch.xml and my_robot_bringup/launch/my_robot_gazebo.launch.xml</a:t>
            </a:r>
            <a:endParaRPr/>
          </a:p>
        </p:txBody>
      </p:sp>
      <p:pic>
        <p:nvPicPr>
          <p:cNvPr id="195" name="Google Shape;195;p31"/>
          <p:cNvPicPr preferRelativeResize="0"/>
          <p:nvPr/>
        </p:nvPicPr>
        <p:blipFill>
          <a:blip r:embed="rId3">
            <a:alphaModFix/>
          </a:blip>
          <a:stretch>
            <a:fillRect/>
          </a:stretch>
        </p:blipFill>
        <p:spPr>
          <a:xfrm>
            <a:off x="135975" y="2364388"/>
            <a:ext cx="8248650" cy="600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201" name="Google Shape;201;p32"/>
          <p:cNvSpPr txBox="1"/>
          <p:nvPr>
            <p:ph idx="1" type="body"/>
          </p:nvPr>
        </p:nvSpPr>
        <p:spPr>
          <a:xfrm>
            <a:off x="-150" y="635700"/>
            <a:ext cx="9144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vi"/>
              <a:t>To create the color for links of robot arm, similarly mobile_base, we create file arm_gazebo.xacro in my_robot_description/urdf/</a:t>
            </a:r>
            <a:endParaRPr/>
          </a:p>
        </p:txBody>
      </p:sp>
      <p:pic>
        <p:nvPicPr>
          <p:cNvPr id="202" name="Google Shape;202;p32"/>
          <p:cNvPicPr preferRelativeResize="0"/>
          <p:nvPr/>
        </p:nvPicPr>
        <p:blipFill>
          <a:blip r:embed="rId3">
            <a:alphaModFix/>
          </a:blip>
          <a:stretch>
            <a:fillRect/>
          </a:stretch>
        </p:blipFill>
        <p:spPr>
          <a:xfrm>
            <a:off x="52225" y="1439550"/>
            <a:ext cx="9039225" cy="3543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208" name="Google Shape;208;p33"/>
          <p:cNvSpPr txBox="1"/>
          <p:nvPr>
            <p:ph idx="1" type="body"/>
          </p:nvPr>
        </p:nvSpPr>
        <p:spPr>
          <a:xfrm>
            <a:off x="-150" y="635700"/>
            <a:ext cx="9144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vi"/>
              <a:t>Rebuild the packages and launch on  gazebo and rviz to view results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14" name="Google Shape;214;p34"/>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vi"/>
              <a:t>Gazebo plugins with required fields:</a:t>
            </a:r>
            <a:endParaRPr b="1"/>
          </a:p>
          <a:p>
            <a:pPr indent="-317500" lvl="1" marL="914400" rtl="0" algn="l">
              <a:spcBef>
                <a:spcPts val="1200"/>
              </a:spcBef>
              <a:spcAft>
                <a:spcPts val="0"/>
              </a:spcAft>
              <a:buSzPts val="1400"/>
              <a:buChar char="○"/>
            </a:pPr>
            <a:r>
              <a:rPr lang="vi"/>
              <a:t>joint_state_publisher:</a:t>
            </a:r>
            <a:endParaRPr/>
          </a:p>
          <a:p>
            <a:pPr indent="-317500" lvl="2" marL="1371600" rtl="0" algn="l">
              <a:spcBef>
                <a:spcPts val="0"/>
              </a:spcBef>
              <a:spcAft>
                <a:spcPts val="0"/>
              </a:spcAft>
              <a:buSzPts val="1400"/>
              <a:buChar char="■"/>
            </a:pPr>
            <a:r>
              <a:rPr lang="vi"/>
              <a:t>update_rate: 10</a:t>
            </a:r>
            <a:endParaRPr/>
          </a:p>
          <a:p>
            <a:pPr indent="-317500" lvl="2" marL="1371600" rtl="0" algn="l">
              <a:spcBef>
                <a:spcPts val="0"/>
              </a:spcBef>
              <a:spcAft>
                <a:spcPts val="0"/>
              </a:spcAft>
              <a:buSzPts val="1400"/>
              <a:buChar char="■"/>
            </a:pPr>
            <a:r>
              <a:rPr lang="vi"/>
              <a:t>joint_name: one for each joint in the arm</a:t>
            </a:r>
            <a:endParaRPr/>
          </a:p>
          <a:p>
            <a:pPr indent="-317500" lvl="1" marL="914400" rtl="0" algn="l">
              <a:spcBef>
                <a:spcPts val="0"/>
              </a:spcBef>
              <a:spcAft>
                <a:spcPts val="0"/>
              </a:spcAft>
              <a:buSzPts val="1400"/>
              <a:buChar char="○"/>
            </a:pPr>
            <a:r>
              <a:rPr lang="vi"/>
              <a:t>joint_pose_trajectory:</a:t>
            </a:r>
            <a:endParaRPr/>
          </a:p>
          <a:p>
            <a:pPr indent="-317500" lvl="2" marL="1371600" rtl="0" algn="l">
              <a:spcBef>
                <a:spcPts val="0"/>
              </a:spcBef>
              <a:spcAft>
                <a:spcPts val="0"/>
              </a:spcAft>
              <a:buSzPts val="1400"/>
              <a:buChar char="■"/>
            </a:pPr>
            <a:r>
              <a:rPr lang="vi"/>
              <a:t>update_rate: 2</a:t>
            </a:r>
            <a:endParaRPr/>
          </a:p>
          <a:p>
            <a:pPr indent="0" lvl="0" marL="45720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20" name="Google Shape;220;p35"/>
          <p:cNvSpPr txBox="1"/>
          <p:nvPr>
            <p:ph idx="1" type="body"/>
          </p:nvPr>
        </p:nvSpPr>
        <p:spPr>
          <a:xfrm>
            <a:off x="73375" y="4095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the joint_state_publisher gazebo plugin in ../urdf/arm_gazebo.xacro</a:t>
            </a:r>
            <a:endParaRPr/>
          </a:p>
        </p:txBody>
      </p:sp>
      <p:pic>
        <p:nvPicPr>
          <p:cNvPr id="221" name="Google Shape;221;p35"/>
          <p:cNvPicPr preferRelativeResize="0"/>
          <p:nvPr/>
        </p:nvPicPr>
        <p:blipFill>
          <a:blip r:embed="rId3">
            <a:alphaModFix/>
          </a:blip>
          <a:stretch>
            <a:fillRect/>
          </a:stretch>
        </p:blipFill>
        <p:spPr>
          <a:xfrm>
            <a:off x="448138" y="2855275"/>
            <a:ext cx="7258050" cy="1905000"/>
          </a:xfrm>
          <a:prstGeom prst="rect">
            <a:avLst/>
          </a:prstGeom>
          <a:noFill/>
          <a:ln>
            <a:noFill/>
          </a:ln>
        </p:spPr>
      </p:pic>
      <p:sp>
        <p:nvSpPr>
          <p:cNvPr id="222" name="Google Shape;222;p35"/>
          <p:cNvSpPr/>
          <p:nvPr/>
        </p:nvSpPr>
        <p:spPr>
          <a:xfrm>
            <a:off x="2221138" y="3024300"/>
            <a:ext cx="3269400" cy="255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5"/>
          <p:cNvSpPr txBox="1"/>
          <p:nvPr/>
        </p:nvSpPr>
        <p:spPr>
          <a:xfrm>
            <a:off x="606338" y="1967675"/>
            <a:ext cx="45234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vi" sz="1800">
                <a:solidFill>
                  <a:schemeClr val="dk1"/>
                </a:solidFill>
              </a:rPr>
              <a:t>define the joint state publisher controller </a:t>
            </a:r>
            <a:endParaRPr sz="1800">
              <a:solidFill>
                <a:schemeClr val="dk1"/>
              </a:solidFill>
            </a:endParaRPr>
          </a:p>
        </p:txBody>
      </p:sp>
      <p:cxnSp>
        <p:nvCxnSpPr>
          <p:cNvPr id="224" name="Google Shape;224;p35"/>
          <p:cNvCxnSpPr>
            <a:stCxn id="223" idx="2"/>
            <a:endCxn id="222" idx="0"/>
          </p:cNvCxnSpPr>
          <p:nvPr/>
        </p:nvCxnSpPr>
        <p:spPr>
          <a:xfrm>
            <a:off x="2868038" y="2429375"/>
            <a:ext cx="987900" cy="594900"/>
          </a:xfrm>
          <a:prstGeom prst="straightConnector1">
            <a:avLst/>
          </a:prstGeom>
          <a:noFill/>
          <a:ln cap="flat" cmpd="sng" w="38100">
            <a:solidFill>
              <a:srgbClr val="FF0000"/>
            </a:solidFill>
            <a:prstDash val="solid"/>
            <a:round/>
            <a:headEnd len="med" w="med" type="none"/>
            <a:tailEnd len="med" w="med" type="triangle"/>
          </a:ln>
        </p:spPr>
      </p:cxnSp>
      <p:sp>
        <p:nvSpPr>
          <p:cNvPr id="225" name="Google Shape;225;p35"/>
          <p:cNvSpPr/>
          <p:nvPr/>
        </p:nvSpPr>
        <p:spPr>
          <a:xfrm>
            <a:off x="2164213" y="3279475"/>
            <a:ext cx="4203600" cy="183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6" name="Google Shape;226;p35"/>
          <p:cNvCxnSpPr>
            <a:endCxn id="225" idx="3"/>
          </p:cNvCxnSpPr>
          <p:nvPr/>
        </p:nvCxnSpPr>
        <p:spPr>
          <a:xfrm flipH="1">
            <a:off x="6367813" y="2206825"/>
            <a:ext cx="976800" cy="1164300"/>
          </a:xfrm>
          <a:prstGeom prst="straightConnector1">
            <a:avLst/>
          </a:prstGeom>
          <a:noFill/>
          <a:ln cap="flat" cmpd="sng" w="38100">
            <a:solidFill>
              <a:srgbClr val="FF0000"/>
            </a:solidFill>
            <a:prstDash val="solid"/>
            <a:round/>
            <a:headEnd len="med" w="med" type="none"/>
            <a:tailEnd len="med" w="med" type="triangle"/>
          </a:ln>
        </p:spPr>
      </p:cxnSp>
      <p:sp>
        <p:nvSpPr>
          <p:cNvPr id="227" name="Google Shape;227;p35"/>
          <p:cNvSpPr txBox="1"/>
          <p:nvPr/>
        </p:nvSpPr>
        <p:spPr>
          <a:xfrm>
            <a:off x="6367913" y="1547775"/>
            <a:ext cx="2163300" cy="7389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vi" sz="1800">
                <a:solidFill>
                  <a:schemeClr val="dk2"/>
                </a:solidFill>
              </a:rPr>
              <a:t>gazebo library for joint state publisher</a:t>
            </a:r>
            <a:endParaRPr sz="1800">
              <a:solidFill>
                <a:schemeClr val="dk2"/>
              </a:solidFill>
            </a:endParaRPr>
          </a:p>
        </p:txBody>
      </p:sp>
      <p:sp>
        <p:nvSpPr>
          <p:cNvPr id="228" name="Google Shape;228;p35"/>
          <p:cNvSpPr/>
          <p:nvPr/>
        </p:nvSpPr>
        <p:spPr>
          <a:xfrm>
            <a:off x="2868050" y="3502775"/>
            <a:ext cx="478500" cy="4188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35"/>
          <p:cNvSpPr txBox="1"/>
          <p:nvPr/>
        </p:nvSpPr>
        <p:spPr>
          <a:xfrm>
            <a:off x="777525" y="4760275"/>
            <a:ext cx="3000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vi">
                <a:solidFill>
                  <a:schemeClr val="dk2"/>
                </a:solidFill>
              </a:rPr>
              <a:t>           </a:t>
            </a:r>
            <a:r>
              <a:rPr lang="vi">
                <a:solidFill>
                  <a:schemeClr val="dk2"/>
                </a:solidFill>
              </a:rPr>
              <a:t>update_rate: 10</a:t>
            </a:r>
            <a:endParaRPr>
              <a:solidFill>
                <a:schemeClr val="dk2"/>
              </a:solidFill>
            </a:endParaRPr>
          </a:p>
        </p:txBody>
      </p:sp>
      <p:cxnSp>
        <p:nvCxnSpPr>
          <p:cNvPr id="230" name="Google Shape;230;p35"/>
          <p:cNvCxnSpPr>
            <a:stCxn id="228" idx="4"/>
            <a:endCxn id="229" idx="0"/>
          </p:cNvCxnSpPr>
          <p:nvPr/>
        </p:nvCxnSpPr>
        <p:spPr>
          <a:xfrm flipH="1">
            <a:off x="2277500" y="3921575"/>
            <a:ext cx="829800" cy="8388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36" name="Google Shape;236;p36"/>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the joint_pose_trajectory plugin to control the arm in ../arm_gazebo.xacro</a:t>
            </a:r>
            <a:endParaRPr/>
          </a:p>
        </p:txBody>
      </p:sp>
      <p:pic>
        <p:nvPicPr>
          <p:cNvPr id="237" name="Google Shape;237;p36"/>
          <p:cNvPicPr preferRelativeResize="0"/>
          <p:nvPr/>
        </p:nvPicPr>
        <p:blipFill>
          <a:blip r:embed="rId3">
            <a:alphaModFix/>
          </a:blip>
          <a:stretch>
            <a:fillRect/>
          </a:stretch>
        </p:blipFill>
        <p:spPr>
          <a:xfrm>
            <a:off x="830750" y="2725675"/>
            <a:ext cx="7258050" cy="1905000"/>
          </a:xfrm>
          <a:prstGeom prst="rect">
            <a:avLst/>
          </a:prstGeom>
          <a:noFill/>
          <a:ln>
            <a:noFill/>
          </a:ln>
        </p:spPr>
      </p:pic>
      <p:sp>
        <p:nvSpPr>
          <p:cNvPr id="238" name="Google Shape;238;p36"/>
          <p:cNvSpPr/>
          <p:nvPr/>
        </p:nvSpPr>
        <p:spPr>
          <a:xfrm>
            <a:off x="2884963" y="2924625"/>
            <a:ext cx="3269400" cy="255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36"/>
          <p:cNvSpPr txBox="1"/>
          <p:nvPr/>
        </p:nvSpPr>
        <p:spPr>
          <a:xfrm>
            <a:off x="1020963" y="1927825"/>
            <a:ext cx="45234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vi" sz="1800">
                <a:solidFill>
                  <a:schemeClr val="dk1"/>
                </a:solidFill>
              </a:rPr>
              <a:t>define the joint pose trajectory controller </a:t>
            </a:r>
            <a:endParaRPr sz="1800">
              <a:solidFill>
                <a:schemeClr val="dk1"/>
              </a:solidFill>
            </a:endParaRPr>
          </a:p>
        </p:txBody>
      </p:sp>
      <p:cxnSp>
        <p:nvCxnSpPr>
          <p:cNvPr id="240" name="Google Shape;240;p36"/>
          <p:cNvCxnSpPr>
            <a:stCxn id="239" idx="2"/>
            <a:endCxn id="238" idx="0"/>
          </p:cNvCxnSpPr>
          <p:nvPr/>
        </p:nvCxnSpPr>
        <p:spPr>
          <a:xfrm>
            <a:off x="3282663" y="2389525"/>
            <a:ext cx="1236900" cy="535200"/>
          </a:xfrm>
          <a:prstGeom prst="straightConnector1">
            <a:avLst/>
          </a:prstGeom>
          <a:noFill/>
          <a:ln cap="flat" cmpd="sng" w="38100">
            <a:solidFill>
              <a:srgbClr val="FF0000"/>
            </a:solidFill>
            <a:prstDash val="solid"/>
            <a:round/>
            <a:headEnd len="med" w="med" type="none"/>
            <a:tailEnd len="med" w="med" type="triangle"/>
          </a:ln>
        </p:spPr>
      </p:cxnSp>
      <p:sp>
        <p:nvSpPr>
          <p:cNvPr id="241" name="Google Shape;241;p36"/>
          <p:cNvSpPr/>
          <p:nvPr/>
        </p:nvSpPr>
        <p:spPr>
          <a:xfrm>
            <a:off x="2698463" y="3182050"/>
            <a:ext cx="4203600" cy="183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2" name="Google Shape;242;p36"/>
          <p:cNvCxnSpPr>
            <a:endCxn id="241" idx="3"/>
          </p:cNvCxnSpPr>
          <p:nvPr/>
        </p:nvCxnSpPr>
        <p:spPr>
          <a:xfrm flipH="1">
            <a:off x="6902063" y="2109400"/>
            <a:ext cx="976800" cy="1164300"/>
          </a:xfrm>
          <a:prstGeom prst="straightConnector1">
            <a:avLst/>
          </a:prstGeom>
          <a:noFill/>
          <a:ln cap="flat" cmpd="sng" w="38100">
            <a:solidFill>
              <a:srgbClr val="FF0000"/>
            </a:solidFill>
            <a:prstDash val="solid"/>
            <a:round/>
            <a:headEnd len="med" w="med" type="none"/>
            <a:tailEnd len="med" w="med" type="triangle"/>
          </a:ln>
        </p:spPr>
      </p:cxnSp>
      <p:sp>
        <p:nvSpPr>
          <p:cNvPr id="243" name="Google Shape;243;p36"/>
          <p:cNvSpPr txBox="1"/>
          <p:nvPr/>
        </p:nvSpPr>
        <p:spPr>
          <a:xfrm>
            <a:off x="6782551" y="1507925"/>
            <a:ext cx="2314500" cy="7389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vi" sz="1800">
                <a:solidFill>
                  <a:schemeClr val="dk2"/>
                </a:solidFill>
              </a:rPr>
              <a:t>gazebo library for joint pose trajectory</a:t>
            </a:r>
            <a:endParaRPr sz="1800">
              <a:solidFill>
                <a:schemeClr val="dk2"/>
              </a:solidFill>
            </a:endParaRPr>
          </a:p>
        </p:txBody>
      </p:sp>
      <p:sp>
        <p:nvSpPr>
          <p:cNvPr id="244" name="Google Shape;244;p36"/>
          <p:cNvSpPr/>
          <p:nvPr/>
        </p:nvSpPr>
        <p:spPr>
          <a:xfrm>
            <a:off x="3411075" y="3413050"/>
            <a:ext cx="478500" cy="4188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36"/>
          <p:cNvSpPr txBox="1"/>
          <p:nvPr/>
        </p:nvSpPr>
        <p:spPr>
          <a:xfrm>
            <a:off x="777525" y="4760275"/>
            <a:ext cx="3000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vi">
                <a:solidFill>
                  <a:schemeClr val="dk2"/>
                </a:solidFill>
              </a:rPr>
              <a:t>           update_rate: 2</a:t>
            </a:r>
            <a:endParaRPr>
              <a:solidFill>
                <a:schemeClr val="dk2"/>
              </a:solidFill>
            </a:endParaRPr>
          </a:p>
        </p:txBody>
      </p:sp>
      <p:cxnSp>
        <p:nvCxnSpPr>
          <p:cNvPr id="246" name="Google Shape;246;p36"/>
          <p:cNvCxnSpPr>
            <a:stCxn id="244" idx="3"/>
            <a:endCxn id="245" idx="0"/>
          </p:cNvCxnSpPr>
          <p:nvPr/>
        </p:nvCxnSpPr>
        <p:spPr>
          <a:xfrm flipH="1">
            <a:off x="2277550" y="3770518"/>
            <a:ext cx="1203600" cy="9897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52" name="Google Shape;252;p37"/>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rebuild the packages</a:t>
            </a:r>
            <a:endParaRPr/>
          </a:p>
          <a:p>
            <a:pPr indent="-342900" lvl="0" marL="457200" rtl="0" algn="l">
              <a:spcBef>
                <a:spcPts val="0"/>
              </a:spcBef>
              <a:spcAft>
                <a:spcPts val="0"/>
              </a:spcAft>
              <a:buSzPts val="1800"/>
              <a:buChar char="●"/>
            </a:pPr>
            <a:r>
              <a:rPr lang="vi"/>
              <a:t>launch: ros2 launch my_robot_bringup my_robot_gazebo.launch.xml</a:t>
            </a:r>
            <a:endParaRPr/>
          </a:p>
          <a:p>
            <a:pPr indent="-342900" lvl="0" marL="457200" rtl="0" algn="l">
              <a:spcBef>
                <a:spcPts val="0"/>
              </a:spcBef>
              <a:spcAft>
                <a:spcPts val="0"/>
              </a:spcAft>
              <a:buSzPts val="1800"/>
              <a:buChar char="●"/>
            </a:pPr>
            <a:r>
              <a:rPr lang="vi"/>
              <a:t>ros2 topic list</a:t>
            </a:r>
            <a:endParaRPr/>
          </a:p>
        </p:txBody>
      </p:sp>
      <p:pic>
        <p:nvPicPr>
          <p:cNvPr id="253" name="Google Shape;253;p37"/>
          <p:cNvPicPr preferRelativeResize="0"/>
          <p:nvPr/>
        </p:nvPicPr>
        <p:blipFill>
          <a:blip r:embed="rId3">
            <a:alphaModFix/>
          </a:blip>
          <a:stretch>
            <a:fillRect/>
          </a:stretch>
        </p:blipFill>
        <p:spPr>
          <a:xfrm>
            <a:off x="2802350" y="1602325"/>
            <a:ext cx="4865050" cy="3387875"/>
          </a:xfrm>
          <a:prstGeom prst="rect">
            <a:avLst/>
          </a:prstGeom>
          <a:noFill/>
          <a:ln>
            <a:noFill/>
          </a:ln>
        </p:spPr>
      </p:pic>
      <p:sp>
        <p:nvSpPr>
          <p:cNvPr id="254" name="Google Shape;254;p37"/>
          <p:cNvSpPr/>
          <p:nvPr/>
        </p:nvSpPr>
        <p:spPr>
          <a:xfrm>
            <a:off x="2723275" y="3971250"/>
            <a:ext cx="1704600" cy="229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60" name="Google Shape;260;p38"/>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rqt_graph</a:t>
            </a:r>
            <a:endParaRPr/>
          </a:p>
        </p:txBody>
      </p:sp>
      <p:pic>
        <p:nvPicPr>
          <p:cNvPr id="261" name="Google Shape;261;p38"/>
          <p:cNvPicPr preferRelativeResize="0"/>
          <p:nvPr/>
        </p:nvPicPr>
        <p:blipFill>
          <a:blip r:embed="rId3">
            <a:alphaModFix/>
          </a:blip>
          <a:stretch>
            <a:fillRect/>
          </a:stretch>
        </p:blipFill>
        <p:spPr>
          <a:xfrm>
            <a:off x="1846050" y="740375"/>
            <a:ext cx="7297949" cy="4153893"/>
          </a:xfrm>
          <a:prstGeom prst="rect">
            <a:avLst/>
          </a:prstGeom>
          <a:noFill/>
          <a:ln>
            <a:noFill/>
          </a:ln>
        </p:spPr>
      </p:pic>
      <p:sp>
        <p:nvSpPr>
          <p:cNvPr id="262" name="Google Shape;262;p38"/>
          <p:cNvSpPr/>
          <p:nvPr/>
        </p:nvSpPr>
        <p:spPr>
          <a:xfrm>
            <a:off x="2085300" y="3044225"/>
            <a:ext cx="3179700" cy="299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68" name="Google Shape;268;p39"/>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Check topic info of </a:t>
            </a:r>
            <a:r>
              <a:rPr lang="vi"/>
              <a:t>topic</a:t>
            </a:r>
            <a:r>
              <a:rPr lang="vi"/>
              <a:t> /set_joint_trajectory we see interface trajectory_msgs/msg/JointTrajectory</a:t>
            </a:r>
            <a:endParaRPr/>
          </a:p>
          <a:p>
            <a:pPr indent="-342900" lvl="0" marL="457200" rtl="0" algn="l">
              <a:spcBef>
                <a:spcPts val="0"/>
              </a:spcBef>
              <a:spcAft>
                <a:spcPts val="0"/>
              </a:spcAft>
              <a:buSzPts val="1800"/>
              <a:buChar char="●"/>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69" name="Google Shape;269;p39"/>
          <p:cNvPicPr preferRelativeResize="0"/>
          <p:nvPr/>
        </p:nvPicPr>
        <p:blipFill>
          <a:blip r:embed="rId3">
            <a:alphaModFix/>
          </a:blip>
          <a:stretch>
            <a:fillRect/>
          </a:stretch>
        </p:blipFill>
        <p:spPr>
          <a:xfrm>
            <a:off x="801088" y="1476363"/>
            <a:ext cx="6086475" cy="1095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75" name="Google Shape;275;p40"/>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Check interface trajectory_msgs/msg/JointTrajectory</a:t>
            </a:r>
            <a:endParaRPr/>
          </a:p>
          <a:p>
            <a:pPr indent="-342900" lvl="0" marL="457200" rtl="0" algn="l">
              <a:spcBef>
                <a:spcPts val="0"/>
              </a:spcBef>
              <a:spcAft>
                <a:spcPts val="0"/>
              </a:spcAft>
              <a:buSzPts val="1800"/>
              <a:buChar char="●"/>
            </a:pPr>
            <a:r>
              <a:rPr lang="vi"/>
              <a:t>ros2 interface show trajectory_msgs/msg/JointTrajectory</a:t>
            </a:r>
            <a:endParaRPr/>
          </a:p>
        </p:txBody>
      </p:sp>
      <p:pic>
        <p:nvPicPr>
          <p:cNvPr id="276" name="Google Shape;276;p40"/>
          <p:cNvPicPr preferRelativeResize="0"/>
          <p:nvPr/>
        </p:nvPicPr>
        <p:blipFill>
          <a:blip r:embed="rId3">
            <a:alphaModFix/>
          </a:blip>
          <a:stretch>
            <a:fillRect/>
          </a:stretch>
        </p:blipFill>
        <p:spPr>
          <a:xfrm>
            <a:off x="1547026" y="1370325"/>
            <a:ext cx="5336525" cy="3773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82" name="Google Shape;282;p41"/>
          <p:cNvSpPr txBox="1"/>
          <p:nvPr>
            <p:ph idx="1" type="body"/>
          </p:nvPr>
        </p:nvSpPr>
        <p:spPr>
          <a:xfrm>
            <a:off x="264350" y="635700"/>
            <a:ext cx="8832600" cy="4507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T</a:t>
            </a:r>
            <a:r>
              <a:rPr lang="vi"/>
              <a:t>o test the joint_pose_trajectory plugin, run this command from the terminal: ros2 topic pub -1 /set_joint_trajectory trajectory_msgs/msg/JointTrajectory '{header: {frame_id: arm_base_link}, joint_names: [arm_base_forearm_joint, forearm_hand_joint], points: [ {</a:t>
            </a:r>
            <a:r>
              <a:rPr lang="vi">
                <a:solidFill>
                  <a:srgbClr val="FF0000"/>
                </a:solidFill>
              </a:rPr>
              <a:t>positions: {0.0, 0.0}</a:t>
            </a:r>
            <a:r>
              <a:rPr lang="vi"/>
              <a:t>} ]}'</a:t>
            </a:r>
            <a:endParaRPr/>
          </a:p>
          <a:p>
            <a:pPr indent="-342900" lvl="0" marL="457200" rtl="0" algn="l">
              <a:spcBef>
                <a:spcPts val="0"/>
              </a:spcBef>
              <a:spcAft>
                <a:spcPts val="0"/>
              </a:spcAft>
              <a:buSzPts val="1800"/>
              <a:buChar char="●"/>
            </a:pPr>
            <a:r>
              <a:rPr lang="vi"/>
              <a:t>We can change the values in </a:t>
            </a:r>
            <a:r>
              <a:rPr lang="vi">
                <a:solidFill>
                  <a:srgbClr val="FF0000"/>
                </a:solidFill>
              </a:rPr>
              <a:t>positions:{}</a:t>
            </a:r>
            <a:endParaRPr>
              <a:solidFill>
                <a:srgbClr val="FF0000"/>
              </a:solidFill>
            </a:endParaRPr>
          </a:p>
          <a:p>
            <a:pPr indent="0" lvl="0" marL="0" rtl="0" algn="l">
              <a:spcBef>
                <a:spcPts val="1200"/>
              </a:spcBef>
              <a:spcAft>
                <a:spcPts val="0"/>
              </a:spcAft>
              <a:buNone/>
            </a:pPr>
            <a:r>
              <a:t/>
            </a:r>
            <a:endParaRPr>
              <a:solidFill>
                <a:srgbClr val="FF0000"/>
              </a:solidFill>
            </a:endParaRPr>
          </a:p>
          <a:p>
            <a:pPr indent="0" lvl="0" marL="0" rtl="0" algn="l">
              <a:spcBef>
                <a:spcPts val="1200"/>
              </a:spcBef>
              <a:spcAft>
                <a:spcPts val="0"/>
              </a:spcAft>
              <a:buNone/>
            </a:pPr>
            <a:r>
              <a:t/>
            </a:r>
            <a:endParaRPr>
              <a:solidFill>
                <a:srgbClr val="FF0000"/>
              </a:solidFill>
            </a:endParaRPr>
          </a:p>
          <a:p>
            <a:pPr indent="0" lvl="0" marL="0" rtl="0" algn="l">
              <a:spcBef>
                <a:spcPts val="1200"/>
              </a:spcBef>
              <a:spcAft>
                <a:spcPts val="0"/>
              </a:spcAft>
              <a:buNone/>
            </a:pPr>
            <a:r>
              <a:t/>
            </a:r>
            <a:endParaRPr>
              <a:solidFill>
                <a:srgbClr val="FF0000"/>
              </a:solidFill>
            </a:endParaRPr>
          </a:p>
          <a:p>
            <a:pPr indent="0" lvl="0" marL="0" rtl="0" algn="l">
              <a:spcBef>
                <a:spcPts val="1200"/>
              </a:spcBef>
              <a:spcAft>
                <a:spcPts val="0"/>
              </a:spcAft>
              <a:buNone/>
            </a:pPr>
            <a:r>
              <a:t/>
            </a:r>
            <a:endParaRPr>
              <a:solidFill>
                <a:srgbClr val="FF0000"/>
              </a:solidFill>
            </a:endParaRPr>
          </a:p>
          <a:p>
            <a:pPr indent="0" lvl="0" marL="0" rtl="0" algn="l">
              <a:spcBef>
                <a:spcPts val="1200"/>
              </a:spcBef>
              <a:spcAft>
                <a:spcPts val="0"/>
              </a:spcAft>
              <a:buNone/>
            </a:pPr>
            <a:r>
              <a:t/>
            </a:r>
            <a:endParaRPr>
              <a:solidFill>
                <a:srgbClr val="FF0000"/>
              </a:solidFill>
            </a:endParaRPr>
          </a:p>
          <a:p>
            <a:pPr indent="-342900" lvl="0" marL="457200" rtl="0" algn="l">
              <a:spcBef>
                <a:spcPts val="1200"/>
              </a:spcBef>
              <a:spcAft>
                <a:spcPts val="0"/>
              </a:spcAft>
              <a:buClr>
                <a:schemeClr val="dk1"/>
              </a:buClr>
              <a:buSzPts val="1800"/>
              <a:buChar char="●"/>
            </a:pPr>
            <a:r>
              <a:rPr lang="vi">
                <a:solidFill>
                  <a:schemeClr val="dk1"/>
                </a:solidFill>
              </a:rPr>
              <a:t>You can see the video</a:t>
            </a:r>
            <a:endParaRPr>
              <a:solidFill>
                <a:schemeClr val="dk1"/>
              </a:solidFill>
            </a:endParaRPr>
          </a:p>
        </p:txBody>
      </p:sp>
      <p:pic>
        <p:nvPicPr>
          <p:cNvPr id="283" name="Google Shape;283;p41"/>
          <p:cNvPicPr preferRelativeResize="0"/>
          <p:nvPr/>
        </p:nvPicPr>
        <p:blipFill>
          <a:blip r:embed="rId3">
            <a:alphaModFix/>
          </a:blip>
          <a:stretch>
            <a:fillRect/>
          </a:stretch>
        </p:blipFill>
        <p:spPr>
          <a:xfrm>
            <a:off x="548163" y="2410838"/>
            <a:ext cx="7096125" cy="828675"/>
          </a:xfrm>
          <a:prstGeom prst="rect">
            <a:avLst/>
          </a:prstGeom>
          <a:noFill/>
          <a:ln>
            <a:noFill/>
          </a:ln>
        </p:spPr>
      </p:pic>
      <p:pic>
        <p:nvPicPr>
          <p:cNvPr id="284" name="Google Shape;284;p41"/>
          <p:cNvPicPr preferRelativeResize="0"/>
          <p:nvPr/>
        </p:nvPicPr>
        <p:blipFill>
          <a:blip r:embed="rId4">
            <a:alphaModFix/>
          </a:blip>
          <a:stretch>
            <a:fillRect/>
          </a:stretch>
        </p:blipFill>
        <p:spPr>
          <a:xfrm>
            <a:off x="505313" y="3443063"/>
            <a:ext cx="7181850" cy="809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290" name="Google Shape;290;p42"/>
          <p:cNvSpPr txBox="1"/>
          <p:nvPr>
            <p:ph idx="1" type="body"/>
          </p:nvPr>
        </p:nvSpPr>
        <p:spPr>
          <a:xfrm>
            <a:off x="2643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t/>
            </a:r>
            <a:endParaRPr>
              <a:solidFill>
                <a:schemeClr val="dk1"/>
              </a:solidFill>
            </a:endParaRPr>
          </a:p>
        </p:txBody>
      </p:sp>
      <p:pic>
        <p:nvPicPr>
          <p:cNvPr id="291" name="Google Shape;291;p42" title="joint_pose_trajectory_plugin.webm">
            <a:hlinkClick r:id="rId3"/>
          </p:cNvPr>
          <p:cNvPicPr preferRelativeResize="0"/>
          <p:nvPr/>
        </p:nvPicPr>
        <p:blipFill>
          <a:blip r:embed="rId4">
            <a:alphaModFix/>
          </a:blip>
          <a:stretch>
            <a:fillRect/>
          </a:stretch>
        </p:blipFill>
        <p:spPr>
          <a:xfrm>
            <a:off x="536305" y="656825"/>
            <a:ext cx="8071381" cy="44655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sp>
        <p:nvSpPr>
          <p:cNvPr id="297" name="Google Shape;297;p43"/>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This section, we combine mobile robot and arm robot in a unified robot.</a:t>
            </a:r>
            <a:endParaRPr/>
          </a:p>
          <a:p>
            <a:pPr indent="-342900" lvl="0" marL="457200" rtl="0" algn="l">
              <a:spcBef>
                <a:spcPts val="0"/>
              </a:spcBef>
              <a:spcAft>
                <a:spcPts val="0"/>
              </a:spcAft>
              <a:buSzPts val="1800"/>
              <a:buChar char="●"/>
            </a:pPr>
            <a:r>
              <a:rPr lang="vi"/>
              <a:t>the urdf xacro file my_robot.urdf.xacro is main</a:t>
            </a:r>
            <a:endParaRPr/>
          </a:p>
          <a:p>
            <a:pPr indent="-342900" lvl="0" marL="457200" rtl="0" algn="l">
              <a:spcBef>
                <a:spcPts val="0"/>
              </a:spcBef>
              <a:spcAft>
                <a:spcPts val="0"/>
              </a:spcAft>
              <a:buSzPts val="1800"/>
              <a:buChar char="●"/>
            </a:pPr>
            <a:r>
              <a:rPr lang="vi"/>
              <a:t>We insert arm and arm gazebo into my_robot.urdf.xacro as:</a:t>
            </a:r>
            <a:endParaRPr/>
          </a:p>
        </p:txBody>
      </p:sp>
      <p:pic>
        <p:nvPicPr>
          <p:cNvPr id="298" name="Google Shape;298;p43"/>
          <p:cNvPicPr preferRelativeResize="0"/>
          <p:nvPr/>
        </p:nvPicPr>
        <p:blipFill>
          <a:blip r:embed="rId3">
            <a:alphaModFix/>
          </a:blip>
          <a:stretch>
            <a:fillRect/>
          </a:stretch>
        </p:blipFill>
        <p:spPr>
          <a:xfrm>
            <a:off x="572377" y="1801802"/>
            <a:ext cx="7039975" cy="2256825"/>
          </a:xfrm>
          <a:prstGeom prst="rect">
            <a:avLst/>
          </a:prstGeom>
          <a:noFill/>
          <a:ln>
            <a:noFill/>
          </a:ln>
        </p:spPr>
      </p:pic>
      <p:sp>
        <p:nvSpPr>
          <p:cNvPr id="299" name="Google Shape;299;p43"/>
          <p:cNvSpPr/>
          <p:nvPr/>
        </p:nvSpPr>
        <p:spPr>
          <a:xfrm>
            <a:off x="1070825" y="3133200"/>
            <a:ext cx="4880400" cy="407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sp>
        <p:nvSpPr>
          <p:cNvPr id="305" name="Google Shape;305;p44"/>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To combine 2 robots, we create joint to connect 2 robots</a:t>
            </a:r>
            <a:endParaRPr/>
          </a:p>
        </p:txBody>
      </p:sp>
      <p:pic>
        <p:nvPicPr>
          <p:cNvPr id="306" name="Google Shape;306;p44"/>
          <p:cNvPicPr preferRelativeResize="0"/>
          <p:nvPr/>
        </p:nvPicPr>
        <p:blipFill>
          <a:blip r:embed="rId3">
            <a:alphaModFix/>
          </a:blip>
          <a:stretch>
            <a:fillRect/>
          </a:stretch>
        </p:blipFill>
        <p:spPr>
          <a:xfrm>
            <a:off x="512625" y="1234800"/>
            <a:ext cx="6686550" cy="3467100"/>
          </a:xfrm>
          <a:prstGeom prst="rect">
            <a:avLst/>
          </a:prstGeom>
          <a:noFill/>
          <a:ln>
            <a:noFill/>
          </a:ln>
        </p:spPr>
      </p:pic>
      <p:sp>
        <p:nvSpPr>
          <p:cNvPr id="307" name="Google Shape;307;p44"/>
          <p:cNvSpPr/>
          <p:nvPr/>
        </p:nvSpPr>
        <p:spPr>
          <a:xfrm>
            <a:off x="949650" y="3089125"/>
            <a:ext cx="5971200" cy="1200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5"/>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Return the urdf_path is my_robot.urdf.xacro</a:t>
            </a:r>
            <a:endParaRPr/>
          </a:p>
        </p:txBody>
      </p:sp>
      <p:sp>
        <p:nvSpPr>
          <p:cNvPr id="313" name="Google Shape;313;p4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pic>
        <p:nvPicPr>
          <p:cNvPr id="314" name="Google Shape;314;p45"/>
          <p:cNvPicPr preferRelativeResize="0"/>
          <p:nvPr/>
        </p:nvPicPr>
        <p:blipFill>
          <a:blip r:embed="rId3">
            <a:alphaModFix/>
          </a:blip>
          <a:stretch>
            <a:fillRect/>
          </a:stretch>
        </p:blipFill>
        <p:spPr>
          <a:xfrm>
            <a:off x="0" y="1043346"/>
            <a:ext cx="9144000" cy="4351957"/>
          </a:xfrm>
          <a:prstGeom prst="rect">
            <a:avLst/>
          </a:prstGeom>
          <a:noFill/>
          <a:ln>
            <a:noFill/>
          </a:ln>
        </p:spPr>
      </p:pic>
      <p:sp>
        <p:nvSpPr>
          <p:cNvPr id="315" name="Google Shape;315;p45"/>
          <p:cNvSpPr/>
          <p:nvPr/>
        </p:nvSpPr>
        <p:spPr>
          <a:xfrm>
            <a:off x="2443900" y="1547125"/>
            <a:ext cx="5347200" cy="319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6"/>
          <p:cNvSpPr txBox="1"/>
          <p:nvPr>
            <p:ph idx="1" type="body"/>
          </p:nvPr>
        </p:nvSpPr>
        <p:spPr>
          <a:xfrm>
            <a:off x="113250" y="635700"/>
            <a:ext cx="4458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rebuild by colcon build</a:t>
            </a:r>
            <a:endParaRPr/>
          </a:p>
          <a:p>
            <a:pPr indent="-342900" lvl="0" marL="457200" rtl="0" algn="l">
              <a:spcBef>
                <a:spcPts val="0"/>
              </a:spcBef>
              <a:spcAft>
                <a:spcPts val="0"/>
              </a:spcAft>
              <a:buSzPts val="1800"/>
              <a:buChar char="●"/>
            </a:pPr>
            <a:r>
              <a:rPr lang="vi"/>
              <a:t>launch gazebo: ros2 launch my_robot_bringup my_robot_gazebo.launch.xml</a:t>
            </a:r>
            <a:endParaRPr/>
          </a:p>
          <a:p>
            <a:pPr indent="-342900" lvl="0" marL="457200" rtl="0" algn="l">
              <a:spcBef>
                <a:spcPts val="0"/>
              </a:spcBef>
              <a:spcAft>
                <a:spcPts val="0"/>
              </a:spcAft>
              <a:buSzPts val="1800"/>
              <a:buChar char="●"/>
            </a:pPr>
            <a:r>
              <a:rPr lang="vi"/>
              <a:t>to check the frames of combined robot: ros2 run tf2_tools view_frames -o complete_robot</a:t>
            </a:r>
            <a:endParaRPr/>
          </a:p>
          <a:p>
            <a:pPr indent="-342900" lvl="0" marL="457200" rtl="0" algn="l">
              <a:spcBef>
                <a:spcPts val="0"/>
              </a:spcBef>
              <a:spcAft>
                <a:spcPts val="0"/>
              </a:spcAft>
              <a:buSzPts val="1800"/>
              <a:buChar char="●"/>
            </a:pPr>
            <a:r>
              <a:t/>
            </a:r>
            <a:endParaRPr/>
          </a:p>
        </p:txBody>
      </p:sp>
      <p:sp>
        <p:nvSpPr>
          <p:cNvPr id="321" name="Google Shape;321;p4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pic>
        <p:nvPicPr>
          <p:cNvPr id="322" name="Google Shape;322;p46"/>
          <p:cNvPicPr preferRelativeResize="0"/>
          <p:nvPr/>
        </p:nvPicPr>
        <p:blipFill>
          <a:blip r:embed="rId3">
            <a:alphaModFix/>
          </a:blip>
          <a:stretch>
            <a:fillRect/>
          </a:stretch>
        </p:blipFill>
        <p:spPr>
          <a:xfrm>
            <a:off x="4572000" y="425715"/>
            <a:ext cx="4572000" cy="471778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7"/>
          <p:cNvSpPr txBox="1"/>
          <p:nvPr>
            <p:ph idx="1" type="body"/>
          </p:nvPr>
        </p:nvSpPr>
        <p:spPr>
          <a:xfrm>
            <a:off x="113250" y="635700"/>
            <a:ext cx="4458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rqt_graph</a:t>
            </a:r>
            <a:endParaRPr/>
          </a:p>
        </p:txBody>
      </p:sp>
      <p:sp>
        <p:nvSpPr>
          <p:cNvPr id="328" name="Google Shape;328;p4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pic>
        <p:nvPicPr>
          <p:cNvPr id="329" name="Google Shape;329;p47"/>
          <p:cNvPicPr preferRelativeResize="0"/>
          <p:nvPr/>
        </p:nvPicPr>
        <p:blipFill>
          <a:blip r:embed="rId3">
            <a:alphaModFix/>
          </a:blip>
          <a:stretch>
            <a:fillRect/>
          </a:stretch>
        </p:blipFill>
        <p:spPr>
          <a:xfrm>
            <a:off x="1705625" y="824275"/>
            <a:ext cx="7438374" cy="4233834"/>
          </a:xfrm>
          <a:prstGeom prst="rect">
            <a:avLst/>
          </a:prstGeom>
          <a:noFill/>
          <a:ln>
            <a:noFill/>
          </a:ln>
        </p:spPr>
      </p:pic>
      <p:sp>
        <p:nvSpPr>
          <p:cNvPr id="330" name="Google Shape;330;p47"/>
          <p:cNvSpPr/>
          <p:nvPr/>
        </p:nvSpPr>
        <p:spPr>
          <a:xfrm>
            <a:off x="3937000" y="3565625"/>
            <a:ext cx="2319600" cy="298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47"/>
          <p:cNvSpPr/>
          <p:nvPr/>
        </p:nvSpPr>
        <p:spPr>
          <a:xfrm>
            <a:off x="1951175" y="1872750"/>
            <a:ext cx="3117300" cy="382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ph idx="1" type="body"/>
          </p:nvPr>
        </p:nvSpPr>
        <p:spPr>
          <a:xfrm>
            <a:off x="113250" y="635700"/>
            <a:ext cx="89310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send command to control the motion of mobile robot and behavior of arm</a:t>
            </a:r>
            <a:endParaRPr/>
          </a:p>
        </p:txBody>
      </p:sp>
      <p:sp>
        <p:nvSpPr>
          <p:cNvPr id="337" name="Google Shape;337;p4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vi"/>
              <a:t>Conclusion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What you have learned?</a:t>
            </a:r>
            <a:endParaRPr/>
          </a:p>
        </p:txBody>
      </p:sp>
      <p:sp>
        <p:nvSpPr>
          <p:cNvPr id="348" name="Google Shape;348;p5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what is TF</a:t>
            </a:r>
            <a:endParaRPr/>
          </a:p>
          <a:p>
            <a:pPr indent="-342900" lvl="0" marL="457200" rtl="0" algn="l">
              <a:spcBef>
                <a:spcPts val="0"/>
              </a:spcBef>
              <a:spcAft>
                <a:spcPts val="0"/>
              </a:spcAft>
              <a:buSzPts val="1800"/>
              <a:buChar char="-"/>
            </a:pPr>
            <a:r>
              <a:rPr lang="vi"/>
              <a:t>Create URDF with links and joints</a:t>
            </a:r>
            <a:endParaRPr/>
          </a:p>
          <a:p>
            <a:pPr indent="-342900" lvl="0" marL="457200" rtl="0" algn="l">
              <a:spcBef>
                <a:spcPts val="0"/>
              </a:spcBef>
              <a:spcAft>
                <a:spcPts val="0"/>
              </a:spcAft>
              <a:buSzPts val="1800"/>
              <a:buChar char="-"/>
            </a:pPr>
            <a:r>
              <a:rPr lang="vi"/>
              <a:t>Robot description package with configure and lunch file</a:t>
            </a:r>
            <a:endParaRPr/>
          </a:p>
          <a:p>
            <a:pPr indent="-342900" lvl="0" marL="457200" rtl="0" algn="l">
              <a:spcBef>
                <a:spcPts val="0"/>
              </a:spcBef>
              <a:spcAft>
                <a:spcPts val="0"/>
              </a:spcAft>
              <a:buSzPts val="1800"/>
              <a:buChar char="-"/>
            </a:pPr>
            <a:r>
              <a:rPr lang="vi"/>
              <a:t>Improve URDF with Xacro - properties, macros</a:t>
            </a:r>
            <a:endParaRPr/>
          </a:p>
          <a:p>
            <a:pPr indent="-342900" lvl="0" marL="457200" rtl="0" algn="l">
              <a:spcBef>
                <a:spcPts val="0"/>
              </a:spcBef>
              <a:spcAft>
                <a:spcPts val="0"/>
              </a:spcAft>
              <a:buSzPts val="1800"/>
              <a:buChar char="-"/>
            </a:pPr>
            <a:r>
              <a:rPr lang="vi"/>
              <a:t>Add inertia and collision tags in URDF </a:t>
            </a:r>
            <a:endParaRPr/>
          </a:p>
          <a:p>
            <a:pPr indent="-342900" lvl="0" marL="457200" rtl="0" algn="l">
              <a:spcBef>
                <a:spcPts val="0"/>
              </a:spcBef>
              <a:spcAft>
                <a:spcPts val="0"/>
              </a:spcAft>
              <a:buSzPts val="1800"/>
              <a:buChar char="-"/>
            </a:pPr>
            <a:r>
              <a:rPr lang="vi"/>
              <a:t>Gazebo plugins</a:t>
            </a:r>
            <a:endParaRPr/>
          </a:p>
          <a:p>
            <a:pPr indent="-342900" lvl="0" marL="457200" rtl="0" algn="l">
              <a:spcBef>
                <a:spcPts val="0"/>
              </a:spcBef>
              <a:spcAft>
                <a:spcPts val="0"/>
              </a:spcAft>
              <a:buSzPts val="1800"/>
              <a:buChar char="-"/>
            </a:pPr>
            <a:r>
              <a:rPr lang="vi"/>
              <a:t>Spawn the robot in Gazebo</a:t>
            </a:r>
            <a:endParaRPr/>
          </a:p>
          <a:p>
            <a:pPr indent="-342900" lvl="0" marL="457200" rtl="0" algn="l">
              <a:spcBef>
                <a:spcPts val="0"/>
              </a:spcBef>
              <a:spcAft>
                <a:spcPts val="0"/>
              </a:spcAft>
              <a:buSzPts val="1800"/>
              <a:buChar char="-"/>
            </a:pPr>
            <a:r>
              <a:rPr lang="vi"/>
              <a:t>Robot bringup package with Gazebo launch file</a:t>
            </a:r>
            <a:endParaRPr/>
          </a:p>
          <a:p>
            <a:pPr indent="-342900" lvl="0" marL="457200" rtl="0" algn="l">
              <a:spcBef>
                <a:spcPts val="0"/>
              </a:spcBef>
              <a:spcAft>
                <a:spcPts val="0"/>
              </a:spcAft>
              <a:buSzPts val="1800"/>
              <a:buChar char="-"/>
            </a:pPr>
            <a:r>
              <a:rPr lang="vi"/>
              <a:t>Create a world with objects and walls</a:t>
            </a:r>
            <a:endParaRPr/>
          </a:p>
          <a:p>
            <a:pPr indent="-342900" lvl="0" marL="457200" rtl="0" algn="l">
              <a:spcBef>
                <a:spcPts val="0"/>
              </a:spcBef>
              <a:spcAft>
                <a:spcPts val="0"/>
              </a:spcAft>
              <a:buSzPts val="1800"/>
              <a:buChar char="-"/>
            </a:pPr>
            <a:r>
              <a:rPr lang="vi"/>
              <a:t>Add a sensor to the robot</a:t>
            </a:r>
            <a:endParaRPr/>
          </a:p>
          <a:p>
            <a:pPr indent="-342900" lvl="0" marL="457200" rtl="0" algn="l">
              <a:spcBef>
                <a:spcPts val="0"/>
              </a:spcBef>
              <a:spcAft>
                <a:spcPts val="0"/>
              </a:spcAft>
              <a:buSzPts val="1800"/>
              <a:buChar char="-"/>
            </a:pPr>
            <a:r>
              <a:rPr lang="vi"/>
              <a:t>Add a robot arm on top of mobile robot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